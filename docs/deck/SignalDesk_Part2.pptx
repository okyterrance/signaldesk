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2. My project is SignalDesk — a Telegram bot that reads twelve crypto and macro news feeds, ranks every story with an eight-factor score, and writes a daily briefing. The interesting part isn't that an AI summarises the news. It's which stories it picks, and the fact that you can audit that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is volume. Twelve feeds produce about a hundred and fifty headlines a day, and most of it is noise — listicles, price predictions, and the same story told six times by six outlets.
The obvious fix is to hand it all to a language model. But that fails in a specific way: the model's selection is unauditable. When it leads with the wrong story, you can't find out why, you can't reproduce it, and you have nothing to correct. You've traded forty minutes of reading for a black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I split the job at its natural seam.
An algorithm decides what matters. It's deterministic and unit-tested — same inputs, same ranking, every time.
The model only writes it up. It receives the already-ranked list, and its system prompt tells it explicitly that selection is not its job. It can't re-order, can't add stories, and can't introduce a number that wasn't in the input.
That boundary is what makes the output auditable. When the briefing leads with the wrong story, the fault is in a factor weight — something I can see, test and fix — instead of in a sampling temperature.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actually arrives. A written briefing every morning at half past eight, with the ranked sources underneath it.
And between briefings, the bot polls every fifteen minutes. Anything scoring above the threshold gets pushed immediately, on its own. That's where the scoring engine really earns its place — a digest answers what happened yesterday, an alert answers this can't wait.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pipeline is seven stages, and every one of them is separately testable.
Fetch twelve feeds concurrently. Hard-filter the clickbait and the bare price ticks — binary, so a listicle can't out-vote its way back in. Dedupe, because twelve feeds covering one market means the same story arrives six times. Classify into five categories. Score. Select. Then write and send.
One detail worth calling out: crypto and macro are scored in separate pools. If you pool them, a Fed decision loses on the asset factor by construction — it names no token — and macro quietly disappears from the briefing.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formula. Eight factors, each normalised to zero-to-one, then weighted and summed.
The weights are a tuned set — changing one shifts the meaning of all the others. The most counter-intuitive is corroboration, source_count, at only seven and a half percent.
Corroboration is real evidence, so it earns a place. But weight it heavily and one big story wins every slot for three days running, because every outlet keeps re-reporting it. Capping it low buys the signal without letting yesterday's news squat on today's briefing. There's a test that pins exactly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command is the heart of the project. Ask it why story one is first, and it prints the arithmetic — every factor, its raw verdict, its weight, and what it contributed to the total.
That's deliberately not the model explaining itself. Asking a language model why it chose something gets you a plausible story, not the actual cause. This is the actual cause, and it adds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reader also owns part of the formula. Two dials.
Subjects — five categories, and switching one off is a hard filter. “Only show me security news” isn't a request to rank macro slightly lower.
And depth. Two of the eight factors — how many figures a headline carries, and how much it reads as commentary — share a fixed budget that the reader splits. Because the total never changes, choosing a style never quietly alters how much subject matter or freshness count. The settings screen shows you the two numbers that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is the AI, and where is it deliberately not?
In the product: Moonshot's Kimi K3, falling back to xAI's Grok 4.3, through an OpenAI-compatible proxy. The chain is cross-vendor on purpose — two models from one provider give you a retry, not a fallback, because an outage takes out both.
Building it: Claude Code, as a pair programmer throughout.
And this is the system prompt that enforces the boundary. It tells the model the list is already ranked, that selection is not its job, and that it may never invent a number. When every provider fails, the bot falls back to template output built from the top-ranked headlines — degraded, but honest, and still correctly ordered, because the ranking never depended on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part I'd most like you to take away.
That transparency command started as a nice-to-have. It became the debugging tool — every real bug in this codebase was found by reading the factor table next to a ranking, and not one of them was caught by a test.
Here's the clearest example. A regex looking for the word “exploit” could not match “exploited”. So a sixty-two million dollar protocol hack — the biggest story in the set — scored as untiered noise and ranked seventh. After the fix it ranked first.
That bug was invisible in aggregate and obvious the moment the intermediate state was on screen. Which is the argument for the whole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 what worked and what I'd change.
What worked was making the score explain itself. It changed how I built the whole thing, and it's the single decision I'd repeat.
What I'd change: the weights are reasoned, not fitted. Every one is defensible and none is measured. The right next step is to log each ranking against which stories readers actually open, and fit them — turning eight arguments into eight numbers.
And I'd be honest that the classifier will keep having gaps. It's regular expressions over open-ended language. I've fixed five rounds of them, each one found by looking at real output. That's not a thing that finishes — it's a thing you keep feeding real data.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A31"/>
        </a:solidFill>
      </p:bgPr>
    </p:bg>
    <p:spTree>
      <p:nvGrpSpPr>
        <p:cNvPr id="1" name=""/>
        <p:cNvGrpSpPr/>
        <p:nvPr/>
      </p:nvGrpSpPr>
      <p:grpSpPr>
        <a:xfrm>
          <a:off x="0" y="0"/>
          <a:ext cx="0" cy="0"/>
          <a:chOff x="0" y="0"/>
          <a:chExt cx="0" cy="0"/>
        </a:xfrm>
      </p:grpSpPr>
      <p:sp>
        <p:nvSpPr>
          <p:cNvPr id="2" name="Text 0"/>
          <p:cNvSpPr/>
          <p:nvPr/>
        </p:nvSpPr>
        <p:spPr>
          <a:xfrm>
            <a:off x="822960" y="1874520"/>
            <a:ext cx="8229600" cy="914400"/>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SignalDesk</a:t>
            </a:r>
            <a:endParaRPr lang="en-US" sz="5400" dirty="0"/>
          </a:p>
        </p:txBody>
      </p:sp>
      <p:sp>
        <p:nvSpPr>
          <p:cNvPr id="3" name="Text 1"/>
          <p:cNvSpPr/>
          <p:nvPr/>
        </p:nvSpPr>
        <p:spPr>
          <a:xfrm>
            <a:off x="841248" y="2788920"/>
            <a:ext cx="9144000" cy="457200"/>
          </a:xfrm>
          <a:prstGeom prst="rect">
            <a:avLst/>
          </a:prstGeom>
          <a:noFill/>
          <a:ln/>
        </p:spPr>
        <p:txBody>
          <a:bodyPr wrap="square" lIns="0" tIns="0" rIns="0" bIns="0" rtlCol="0" anchor="ctr"/>
          <a:lstStyle/>
          <a:p>
            <a:pPr indent="0" marL="0">
              <a:buNone/>
            </a:pPr>
            <a:r>
              <a:rPr lang="en-US" sz="2100" dirty="0">
                <a:solidFill>
                  <a:srgbClr val="E8963C"/>
                </a:solidFill>
                <a:latin typeface="Calibri" pitchFamily="34" charset="0"/>
                <a:ea typeface="Calibri" pitchFamily="34" charset="-122"/>
                <a:cs typeface="Calibri" pitchFamily="34" charset="-120"/>
              </a:rPr>
              <a:t>A news ranking engine that shows its work</a:t>
            </a:r>
            <a:endParaRPr lang="en-US" sz="2100" dirty="0"/>
          </a:p>
        </p:txBody>
      </p:sp>
      <p:sp>
        <p:nvSpPr>
          <p:cNvPr id="4" name="Text 2"/>
          <p:cNvSpPr/>
          <p:nvPr/>
        </p:nvSpPr>
        <p:spPr>
          <a:xfrm>
            <a:off x="841248" y="3429000"/>
            <a:ext cx="7863840" cy="914400"/>
          </a:xfrm>
          <a:prstGeom prst="rect">
            <a:avLst/>
          </a:prstGeom>
          <a:noFill/>
          <a:ln/>
        </p:spPr>
        <p:txBody>
          <a:bodyPr wrap="square" lIns="0" tIns="0" rIns="0" bIns="0" rtlCol="0" anchor="ctr"/>
          <a:lstStyle/>
          <a:p>
            <a:pPr indent="0" marL="0">
              <a:lnSpc>
                <a:spcPts val="2400"/>
              </a:lnSpc>
              <a:buNone/>
            </a:pPr>
            <a:r>
              <a:rPr lang="en-US" sz="1500" dirty="0">
                <a:solidFill>
                  <a:srgbClr val="9FB4BB"/>
                </a:solidFill>
                <a:latin typeface="Calibri" pitchFamily="34" charset="0"/>
                <a:ea typeface="Calibri" pitchFamily="34" charset="-122"/>
                <a:cs typeface="Calibri" pitchFamily="34" charset="-120"/>
              </a:rPr>
              <a:t>A Telegram bot that reads 12 news feeds, ranks every story with an</a:t>
            </a:r>
            <a:endParaRPr lang="en-US" sz="1500" dirty="0"/>
          </a:p>
          <a:p>
            <a:pPr indent="0" marL="0">
              <a:lnSpc>
                <a:spcPts val="2400"/>
              </a:lnSpc>
              <a:buNone/>
            </a:pPr>
            <a:r>
              <a:rPr lang="en-US" sz="1500" dirty="0">
                <a:solidFill>
                  <a:srgbClr val="9FB4BB"/>
                </a:solidFill>
                <a:latin typeface="Calibri" pitchFamily="34" charset="0"/>
                <a:ea typeface="Calibri" pitchFamily="34" charset="-122"/>
                <a:cs typeface="Calibri" pitchFamily="34" charset="-120"/>
              </a:rPr>
              <a:t>auditable eight-factor score, and writes the briefing.</a:t>
            </a:r>
            <a:endParaRPr lang="en-US" sz="1500" dirty="0"/>
          </a:p>
        </p:txBody>
      </p:sp>
      <p:sp>
        <p:nvSpPr>
          <p:cNvPr id="5" name="Text 3"/>
          <p:cNvSpPr/>
          <p:nvPr/>
        </p:nvSpPr>
        <p:spPr>
          <a:xfrm>
            <a:off x="841248" y="4892040"/>
            <a:ext cx="1280160" cy="457200"/>
          </a:xfrm>
          <a:prstGeom prst="rect">
            <a:avLst/>
          </a:prstGeom>
          <a:noFill/>
          <a:ln/>
        </p:spPr>
        <p:txBody>
          <a:bodyPr wrap="square" lIns="0" tIns="0" rIns="0" bIns="0" rtlCol="0" anchor="ctr"/>
          <a:lstStyle/>
          <a:p>
            <a:pPr indent="0" marL="0">
              <a:buNone/>
            </a:pPr>
            <a:r>
              <a:rPr lang="en-US" sz="2700" b="1" dirty="0">
                <a:solidFill>
                  <a:srgbClr val="E8963C"/>
                </a:solidFill>
                <a:latin typeface="Courier New" pitchFamily="34" charset="0"/>
                <a:ea typeface="Courier New" pitchFamily="34" charset="-122"/>
                <a:cs typeface="Courier New" pitchFamily="34" charset="-120"/>
              </a:rPr>
              <a:t>12</a:t>
            </a:r>
            <a:endParaRPr lang="en-US" sz="2700" dirty="0"/>
          </a:p>
        </p:txBody>
      </p:sp>
      <p:sp>
        <p:nvSpPr>
          <p:cNvPr id="6" name="Text 4"/>
          <p:cNvSpPr/>
          <p:nvPr/>
        </p:nvSpPr>
        <p:spPr>
          <a:xfrm>
            <a:off x="841248" y="5367528"/>
            <a:ext cx="1280160" cy="274320"/>
          </a:xfrm>
          <a:prstGeom prst="rect">
            <a:avLst/>
          </a:prstGeom>
          <a:noFill/>
          <a:ln/>
        </p:spPr>
        <p:txBody>
          <a:bodyPr wrap="square" lIns="0" tIns="0" rIns="0" bIns="0" rtlCol="0" anchor="ctr"/>
          <a:lstStyle/>
          <a:p>
            <a:pPr indent="0" marL="0">
              <a:buNone/>
            </a:pPr>
            <a:r>
              <a:rPr lang="en-US" sz="1150" dirty="0">
                <a:solidFill>
                  <a:srgbClr val="8AA3AB"/>
                </a:solidFill>
                <a:latin typeface="Calibri" pitchFamily="34" charset="0"/>
                <a:ea typeface="Calibri" pitchFamily="34" charset="-122"/>
                <a:cs typeface="Calibri" pitchFamily="34" charset="-120"/>
              </a:rPr>
              <a:t>feeds</a:t>
            </a:r>
            <a:endParaRPr lang="en-US" sz="1150" dirty="0"/>
          </a:p>
        </p:txBody>
      </p:sp>
      <p:sp>
        <p:nvSpPr>
          <p:cNvPr id="7" name="Text 5"/>
          <p:cNvSpPr/>
          <p:nvPr/>
        </p:nvSpPr>
        <p:spPr>
          <a:xfrm>
            <a:off x="2322576" y="4892040"/>
            <a:ext cx="1280160" cy="457200"/>
          </a:xfrm>
          <a:prstGeom prst="rect">
            <a:avLst/>
          </a:prstGeom>
          <a:noFill/>
          <a:ln/>
        </p:spPr>
        <p:txBody>
          <a:bodyPr wrap="square" lIns="0" tIns="0" rIns="0" bIns="0" rtlCol="0" anchor="ctr"/>
          <a:lstStyle/>
          <a:p>
            <a:pPr indent="0" marL="0">
              <a:buNone/>
            </a:pPr>
            <a:r>
              <a:rPr lang="en-US" sz="2700" b="1" dirty="0">
                <a:solidFill>
                  <a:srgbClr val="E8963C"/>
                </a:solidFill>
                <a:latin typeface="Courier New" pitchFamily="34" charset="0"/>
                <a:ea typeface="Courier New" pitchFamily="34" charset="-122"/>
                <a:cs typeface="Courier New" pitchFamily="34" charset="-120"/>
              </a:rPr>
              <a:t>8</a:t>
            </a:r>
            <a:endParaRPr lang="en-US" sz="2700" dirty="0"/>
          </a:p>
        </p:txBody>
      </p:sp>
      <p:sp>
        <p:nvSpPr>
          <p:cNvPr id="8" name="Text 6"/>
          <p:cNvSpPr/>
          <p:nvPr/>
        </p:nvSpPr>
        <p:spPr>
          <a:xfrm>
            <a:off x="2322576" y="5367528"/>
            <a:ext cx="1280160" cy="274320"/>
          </a:xfrm>
          <a:prstGeom prst="rect">
            <a:avLst/>
          </a:prstGeom>
          <a:noFill/>
          <a:ln/>
        </p:spPr>
        <p:txBody>
          <a:bodyPr wrap="square" lIns="0" tIns="0" rIns="0" bIns="0" rtlCol="0" anchor="ctr"/>
          <a:lstStyle/>
          <a:p>
            <a:pPr indent="0" marL="0">
              <a:buNone/>
            </a:pPr>
            <a:r>
              <a:rPr lang="en-US" sz="1150" dirty="0">
                <a:solidFill>
                  <a:srgbClr val="8AA3AB"/>
                </a:solidFill>
                <a:latin typeface="Calibri" pitchFamily="34" charset="0"/>
                <a:ea typeface="Calibri" pitchFamily="34" charset="-122"/>
                <a:cs typeface="Calibri" pitchFamily="34" charset="-120"/>
              </a:rPr>
              <a:t>factors</a:t>
            </a:r>
            <a:endParaRPr lang="en-US" sz="1150" dirty="0"/>
          </a:p>
        </p:txBody>
      </p:sp>
      <p:sp>
        <p:nvSpPr>
          <p:cNvPr id="9" name="Text 7"/>
          <p:cNvSpPr/>
          <p:nvPr/>
        </p:nvSpPr>
        <p:spPr>
          <a:xfrm>
            <a:off x="3803904" y="4892040"/>
            <a:ext cx="1280160" cy="457200"/>
          </a:xfrm>
          <a:prstGeom prst="rect">
            <a:avLst/>
          </a:prstGeom>
          <a:noFill/>
          <a:ln/>
        </p:spPr>
        <p:txBody>
          <a:bodyPr wrap="square" lIns="0" tIns="0" rIns="0" bIns="0" rtlCol="0" anchor="ctr"/>
          <a:lstStyle/>
          <a:p>
            <a:pPr indent="0" marL="0">
              <a:buNone/>
            </a:pPr>
            <a:r>
              <a:rPr lang="en-US" sz="2700" b="1" dirty="0">
                <a:solidFill>
                  <a:srgbClr val="E8963C"/>
                </a:solidFill>
                <a:latin typeface="Courier New" pitchFamily="34" charset="0"/>
                <a:ea typeface="Courier New" pitchFamily="34" charset="-122"/>
                <a:cs typeface="Courier New" pitchFamily="34" charset="-120"/>
              </a:rPr>
              <a:t>18</a:t>
            </a:r>
            <a:endParaRPr lang="en-US" sz="2700" dirty="0"/>
          </a:p>
        </p:txBody>
      </p:sp>
      <p:sp>
        <p:nvSpPr>
          <p:cNvPr id="10" name="Text 8"/>
          <p:cNvSpPr/>
          <p:nvPr/>
        </p:nvSpPr>
        <p:spPr>
          <a:xfrm>
            <a:off x="3803904" y="5367528"/>
            <a:ext cx="1280160" cy="274320"/>
          </a:xfrm>
          <a:prstGeom prst="rect">
            <a:avLst/>
          </a:prstGeom>
          <a:noFill/>
          <a:ln/>
        </p:spPr>
        <p:txBody>
          <a:bodyPr wrap="square" lIns="0" tIns="0" rIns="0" bIns="0" rtlCol="0" anchor="ctr"/>
          <a:lstStyle/>
          <a:p>
            <a:pPr indent="0" marL="0">
              <a:buNone/>
            </a:pPr>
            <a:r>
              <a:rPr lang="en-US" sz="1150" dirty="0">
                <a:solidFill>
                  <a:srgbClr val="8AA3AB"/>
                </a:solidFill>
                <a:latin typeface="Calibri" pitchFamily="34" charset="0"/>
                <a:ea typeface="Calibri" pitchFamily="34" charset="-122"/>
                <a:cs typeface="Calibri" pitchFamily="34" charset="-120"/>
              </a:rPr>
              <a:t>selected</a:t>
            </a:r>
            <a:endParaRPr lang="en-US" sz="1150" dirty="0"/>
          </a:p>
        </p:txBody>
      </p:sp>
      <p:sp>
        <p:nvSpPr>
          <p:cNvPr id="11" name="Text 9"/>
          <p:cNvSpPr/>
          <p:nvPr/>
        </p:nvSpPr>
        <p:spPr>
          <a:xfrm>
            <a:off x="5285232" y="4892040"/>
            <a:ext cx="1280160" cy="457200"/>
          </a:xfrm>
          <a:prstGeom prst="rect">
            <a:avLst/>
          </a:prstGeom>
          <a:noFill/>
          <a:ln/>
        </p:spPr>
        <p:txBody>
          <a:bodyPr wrap="square" lIns="0" tIns="0" rIns="0" bIns="0" rtlCol="0" anchor="ctr"/>
          <a:lstStyle/>
          <a:p>
            <a:pPr indent="0" marL="0">
              <a:buNone/>
            </a:pPr>
            <a:r>
              <a:rPr lang="en-US" sz="2700" b="1" dirty="0">
                <a:solidFill>
                  <a:srgbClr val="E8963C"/>
                </a:solidFill>
                <a:latin typeface="Courier New" pitchFamily="34" charset="0"/>
                <a:ea typeface="Courier New" pitchFamily="34" charset="-122"/>
                <a:cs typeface="Courier New" pitchFamily="34" charset="-120"/>
              </a:rPr>
              <a:t>147</a:t>
            </a:r>
            <a:endParaRPr lang="en-US" sz="2700" dirty="0"/>
          </a:p>
        </p:txBody>
      </p:sp>
      <p:sp>
        <p:nvSpPr>
          <p:cNvPr id="12" name="Text 10"/>
          <p:cNvSpPr/>
          <p:nvPr/>
        </p:nvSpPr>
        <p:spPr>
          <a:xfrm>
            <a:off x="5285232" y="5367528"/>
            <a:ext cx="1280160" cy="274320"/>
          </a:xfrm>
          <a:prstGeom prst="rect">
            <a:avLst/>
          </a:prstGeom>
          <a:noFill/>
          <a:ln/>
        </p:spPr>
        <p:txBody>
          <a:bodyPr wrap="square" lIns="0" tIns="0" rIns="0" bIns="0" rtlCol="0" anchor="ctr"/>
          <a:lstStyle/>
          <a:p>
            <a:pPr indent="0" marL="0">
              <a:buNone/>
            </a:pPr>
            <a:r>
              <a:rPr lang="en-US" sz="1150" dirty="0">
                <a:solidFill>
                  <a:srgbClr val="8AA3AB"/>
                </a:solidFill>
                <a:latin typeface="Calibri" pitchFamily="34" charset="0"/>
                <a:ea typeface="Calibri" pitchFamily="34" charset="-122"/>
                <a:cs typeface="Calibri" pitchFamily="34" charset="-120"/>
              </a:rPr>
              <a:t>tests</a:t>
            </a:r>
            <a:endParaRPr lang="en-US" sz="11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THE PROBLEM</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Forty minutes of triage, every morning</a:t>
            </a:r>
            <a:endParaRPr lang="en-US" sz="3400" dirty="0"/>
          </a:p>
        </p:txBody>
      </p:sp>
      <p:sp>
        <p:nvSpPr>
          <p:cNvPr id="4" name="Shape 2"/>
          <p:cNvSpPr/>
          <p:nvPr/>
        </p:nvSpPr>
        <p:spPr>
          <a:xfrm>
            <a:off x="548640" y="1783080"/>
            <a:ext cx="5212080" cy="1874520"/>
          </a:xfrm>
          <a:prstGeom prst="roundRect">
            <a:avLst>
              <a:gd name="adj" fmla="val 3902"/>
            </a:avLst>
          </a:prstGeom>
          <a:solidFill>
            <a:srgbClr val="F1F5F6"/>
          </a:solidFill>
          <a:ln w="12700">
            <a:solidFill>
              <a:srgbClr val="D5DFE2"/>
            </a:solidFill>
            <a:prstDash val="solid"/>
          </a:ln>
        </p:spPr>
      </p:sp>
      <p:sp>
        <p:nvSpPr>
          <p:cNvPr id="5" name="Text 3"/>
          <p:cNvSpPr/>
          <p:nvPr/>
        </p:nvSpPr>
        <p:spPr>
          <a:xfrm>
            <a:off x="868680" y="2011680"/>
            <a:ext cx="2011680" cy="658368"/>
          </a:xfrm>
          <a:prstGeom prst="rect">
            <a:avLst/>
          </a:prstGeom>
          <a:noFill/>
          <a:ln/>
        </p:spPr>
        <p:txBody>
          <a:bodyPr wrap="square" lIns="0" tIns="0" rIns="0" bIns="0" rtlCol="0" anchor="ctr"/>
          <a:lstStyle/>
          <a:p>
            <a:pPr indent="0" marL="0">
              <a:buNone/>
            </a:pPr>
            <a:r>
              <a:rPr lang="en-US" sz="4000" b="1" dirty="0">
                <a:solidFill>
                  <a:srgbClr val="C2610F"/>
                </a:solidFill>
                <a:latin typeface="Courier New" pitchFamily="34" charset="0"/>
                <a:ea typeface="Courier New" pitchFamily="34" charset="-122"/>
                <a:cs typeface="Courier New" pitchFamily="34" charset="-120"/>
              </a:rPr>
              <a:t>~157</a:t>
            </a:r>
            <a:endParaRPr lang="en-US" sz="4000" dirty="0"/>
          </a:p>
        </p:txBody>
      </p:sp>
      <p:sp>
        <p:nvSpPr>
          <p:cNvPr id="6" name="Text 4"/>
          <p:cNvSpPr/>
          <p:nvPr/>
        </p:nvSpPr>
        <p:spPr>
          <a:xfrm>
            <a:off x="868680" y="2724912"/>
            <a:ext cx="4572000" cy="822960"/>
          </a:xfrm>
          <a:prstGeom prst="rect">
            <a:avLst/>
          </a:prstGeom>
          <a:noFill/>
          <a:ln/>
        </p:spPr>
        <p:txBody>
          <a:bodyPr wrap="square" lIns="0" tIns="0" rIns="0" bIns="0" rtlCol="0" anchor="ctr"/>
          <a:lstStyle/>
          <a:p>
            <a:pPr indent="0" marL="0">
              <a:lnSpc>
                <a:spcPts val="1900"/>
              </a:lnSpc>
              <a:buNone/>
            </a:pPr>
            <a:r>
              <a:rPr lang="en-US" sz="1400" dirty="0">
                <a:solidFill>
                  <a:srgbClr val="24343B"/>
                </a:solidFill>
                <a:latin typeface="Calibri" pitchFamily="34" charset="0"/>
                <a:ea typeface="Calibri" pitchFamily="34" charset="-122"/>
                <a:cs typeface="Calibri" pitchFamily="34" charset="-120"/>
              </a:rPr>
              <a:t>headlines a day across 12 feeds —</a:t>
            </a:r>
            <a:endParaRPr lang="en-US" sz="1400" dirty="0"/>
          </a:p>
          <a:p>
            <a:pPr indent="0" marL="0">
              <a:lnSpc>
                <a:spcPts val="1900"/>
              </a:lnSpc>
              <a:buNone/>
            </a:pPr>
            <a:r>
              <a:rPr lang="en-US" sz="1400" dirty="0">
                <a:solidFill>
                  <a:srgbClr val="24343B"/>
                </a:solidFill>
                <a:latin typeface="Calibri" pitchFamily="34" charset="0"/>
                <a:ea typeface="Calibri" pitchFamily="34" charset="-122"/>
                <a:cs typeface="Calibri" pitchFamily="34" charset="-120"/>
              </a:rPr>
              <a:t>mostly listicles, price-prediction bait,</a:t>
            </a:r>
            <a:endParaRPr lang="en-US" sz="1400" dirty="0"/>
          </a:p>
          <a:p>
            <a:pPr indent="0" marL="0">
              <a:lnSpc>
                <a:spcPts val="1900"/>
              </a:lnSpc>
              <a:buNone/>
            </a:pPr>
            <a:r>
              <a:rPr lang="en-US" sz="1400" dirty="0">
                <a:solidFill>
                  <a:srgbClr val="24343B"/>
                </a:solidFill>
                <a:latin typeface="Calibri" pitchFamily="34" charset="0"/>
                <a:ea typeface="Calibri" pitchFamily="34" charset="-122"/>
                <a:cs typeface="Calibri" pitchFamily="34" charset="-120"/>
              </a:rPr>
              <a:t>and the same story told six times.</a:t>
            </a:r>
            <a:endParaRPr lang="en-US" sz="1400" dirty="0"/>
          </a:p>
        </p:txBody>
      </p:sp>
      <p:sp>
        <p:nvSpPr>
          <p:cNvPr id="7" name="Text 5"/>
          <p:cNvSpPr/>
          <p:nvPr/>
        </p:nvSpPr>
        <p:spPr>
          <a:xfrm>
            <a:off x="6263640" y="1810512"/>
            <a:ext cx="5394960" cy="329184"/>
          </a:xfrm>
          <a:prstGeom prst="rect">
            <a:avLst/>
          </a:prstGeom>
          <a:noFill/>
          <a:ln/>
        </p:spPr>
        <p:txBody>
          <a:bodyPr wrap="square" lIns="0" tIns="0" rIns="0" bIns="0" rtlCol="0" anchor="ctr"/>
          <a:lstStyle/>
          <a:p>
            <a:pPr indent="0" marL="0">
              <a:buNone/>
            </a:pPr>
            <a:r>
              <a:rPr lang="en-US" sz="1700" b="1" dirty="0">
                <a:solidFill>
                  <a:srgbClr val="0E2A31"/>
                </a:solidFill>
                <a:latin typeface="Calibri" pitchFamily="34" charset="0"/>
                <a:ea typeface="Calibri" pitchFamily="34" charset="-122"/>
                <a:cs typeface="Calibri" pitchFamily="34" charset="-120"/>
              </a:rPr>
              <a:t>The obvious fix fails in a specific way</a:t>
            </a:r>
            <a:endParaRPr lang="en-US" sz="1700" dirty="0"/>
          </a:p>
        </p:txBody>
      </p:sp>
      <p:sp>
        <p:nvSpPr>
          <p:cNvPr id="8" name="Text 6"/>
          <p:cNvSpPr/>
          <p:nvPr/>
        </p:nvSpPr>
        <p:spPr>
          <a:xfrm>
            <a:off x="6263640" y="2240280"/>
            <a:ext cx="5349240" cy="1463040"/>
          </a:xfrm>
          <a:prstGeom prst="rect">
            <a:avLst/>
          </a:prstGeom>
          <a:noFill/>
          <a:ln/>
        </p:spPr>
        <p:txBody>
          <a:bodyPr wrap="square" lIns="0" tIns="0" rIns="0" bIns="0" rtlCol="0" anchor="ctr"/>
          <a:lstStyle/>
          <a:p>
            <a:pPr indent="0" marL="0">
              <a:lnSpc>
                <a:spcPts val="2000"/>
              </a:lnSpc>
              <a:buNone/>
            </a:pPr>
            <a:r>
              <a:rPr lang="en-US" sz="1400" dirty="0">
                <a:solidFill>
                  <a:srgbClr val="5E7078"/>
                </a:solidFill>
                <a:latin typeface="Calibri" pitchFamily="34" charset="0"/>
                <a:ea typeface="Calibri" pitchFamily="34" charset="-122"/>
                <a:cs typeface="Calibri" pitchFamily="34" charset="-120"/>
              </a:rPr>
              <a:t>Hand it all to a language model and ask for a summary — and the model's selection becomes unauditable.</a:t>
            </a:r>
            <a:endParaRPr lang="en-US" sz="1400" dirty="0"/>
          </a:p>
          <a:p>
            <a:pPr indent="0" marL="0">
              <a:lnSpc>
                <a:spcPts val="2000"/>
              </a:lnSpc>
              <a:buNone/>
            </a:pPr>
            <a:endParaRPr lang="en-US" sz="1400" dirty="0"/>
          </a:p>
          <a:p>
            <a:pPr indent="0" marL="0">
              <a:lnSpc>
                <a:spcPts val="2000"/>
              </a:lnSpc>
              <a:buNone/>
            </a:pPr>
            <a:r>
              <a:rPr lang="en-US" sz="1400" dirty="0">
                <a:solidFill>
                  <a:srgbClr val="5E7078"/>
                </a:solidFill>
                <a:latin typeface="Calibri" pitchFamily="34" charset="0"/>
                <a:ea typeface="Calibri" pitchFamily="34" charset="-122"/>
                <a:cs typeface="Calibri" pitchFamily="34" charset="-120"/>
              </a:rPr>
              <a:t>When it leads with the wrong story you cannot find out why, cannot reproduce it, and have nothing to correct.</a:t>
            </a:r>
            <a:endParaRPr lang="en-US" sz="1400" dirty="0"/>
          </a:p>
        </p:txBody>
      </p:sp>
      <p:sp>
        <p:nvSpPr>
          <p:cNvPr id="9" name="Shape 7"/>
          <p:cNvSpPr/>
          <p:nvPr/>
        </p:nvSpPr>
        <p:spPr>
          <a:xfrm>
            <a:off x="548640" y="4069080"/>
            <a:ext cx="11064240" cy="960120"/>
          </a:xfrm>
          <a:prstGeom prst="roundRect">
            <a:avLst>
              <a:gd name="adj" fmla="val 7619"/>
            </a:avLst>
          </a:prstGeom>
          <a:solidFill>
            <a:srgbClr val="0E2A31"/>
          </a:solidFill>
          <a:ln w="12700">
            <a:solidFill>
              <a:srgbClr val="0E2A31"/>
            </a:solidFill>
            <a:prstDash val="solid"/>
          </a:ln>
        </p:spPr>
      </p:sp>
      <p:sp>
        <p:nvSpPr>
          <p:cNvPr id="10" name="Text 8"/>
          <p:cNvSpPr/>
          <p:nvPr/>
        </p:nvSpPr>
        <p:spPr>
          <a:xfrm>
            <a:off x="914400" y="4224528"/>
            <a:ext cx="10332720" cy="640080"/>
          </a:xfrm>
          <a:prstGeom prst="rect">
            <a:avLst/>
          </a:prstGeom>
          <a:noFill/>
          <a:ln/>
        </p:spPr>
        <p:txBody>
          <a:bodyPr wrap="square" lIns="0" tIns="0" rIns="0" bIns="0" rtlCol="0" anchor="ctr"/>
          <a:lstStyle/>
          <a:p>
            <a:pPr indent="0" marL="0">
              <a:buNone/>
            </a:pPr>
            <a:r>
              <a:rPr lang="en-US" sz="1800" i="1" dirty="0">
                <a:solidFill>
                  <a:srgbClr val="FFFFFF"/>
                </a:solidFill>
                <a:latin typeface="Cambria" pitchFamily="34" charset="0"/>
                <a:ea typeface="Cambria" pitchFamily="34" charset="-122"/>
                <a:cs typeface="Cambria" pitchFamily="34" charset="-120"/>
              </a:rPr>
              <a:t>You would have traded forty minutes of reading for a black box you must trust on a decision that matters.</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THE CORE DECISION</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Split the job at its natural seam</a:t>
            </a:r>
            <a:endParaRPr lang="en-US" sz="3400" dirty="0"/>
          </a:p>
        </p:txBody>
      </p:sp>
      <p:sp>
        <p:nvSpPr>
          <p:cNvPr id="4" name="Shape 2"/>
          <p:cNvSpPr/>
          <p:nvPr/>
        </p:nvSpPr>
        <p:spPr>
          <a:xfrm>
            <a:off x="548640" y="1783080"/>
            <a:ext cx="5349240" cy="2286000"/>
          </a:xfrm>
          <a:prstGeom prst="roundRect">
            <a:avLst>
              <a:gd name="adj" fmla="val 3200"/>
            </a:avLst>
          </a:prstGeom>
          <a:solidFill>
            <a:srgbClr val="F1F5F6"/>
          </a:solidFill>
          <a:ln w="12700">
            <a:solidFill>
              <a:srgbClr val="D5DFE2"/>
            </a:solidFill>
            <a:prstDash val="solid"/>
          </a:ln>
        </p:spPr>
      </p:sp>
      <p:sp>
        <p:nvSpPr>
          <p:cNvPr id="5" name="Shape 3"/>
          <p:cNvSpPr/>
          <p:nvPr/>
        </p:nvSpPr>
        <p:spPr>
          <a:xfrm>
            <a:off x="896112" y="2057400"/>
            <a:ext cx="310896" cy="310896"/>
          </a:xfrm>
          <a:prstGeom prst="ellipse">
            <a:avLst/>
          </a:prstGeom>
          <a:solidFill>
            <a:srgbClr val="0E5B69"/>
          </a:solidFill>
          <a:ln/>
        </p:spPr>
      </p:sp>
      <p:sp>
        <p:nvSpPr>
          <p:cNvPr id="6" name="Text 4"/>
          <p:cNvSpPr/>
          <p:nvPr/>
        </p:nvSpPr>
        <p:spPr>
          <a:xfrm>
            <a:off x="1417320" y="2066544"/>
            <a:ext cx="3840480" cy="274320"/>
          </a:xfrm>
          <a:prstGeom prst="rect">
            <a:avLst/>
          </a:prstGeom>
          <a:noFill/>
          <a:ln/>
        </p:spPr>
        <p:txBody>
          <a:bodyPr wrap="square" lIns="0" tIns="0" rIns="0" bIns="0" rtlCol="0" anchor="ctr"/>
          <a:lstStyle/>
          <a:p>
            <a:pPr indent="0" marL="0">
              <a:buNone/>
            </a:pPr>
            <a:r>
              <a:rPr lang="en-US" sz="1050" b="1" spc="160" kern="0" dirty="0">
                <a:solidFill>
                  <a:srgbClr val="0E5B69"/>
                </a:solidFill>
                <a:latin typeface="Courier New" pitchFamily="34" charset="0"/>
                <a:ea typeface="Courier New" pitchFamily="34" charset="-122"/>
                <a:cs typeface="Courier New" pitchFamily="34" charset="-120"/>
              </a:rPr>
              <a:t>THE ALGORITHM</a:t>
            </a:r>
            <a:endParaRPr lang="en-US" sz="1050" dirty="0"/>
          </a:p>
        </p:txBody>
      </p:sp>
      <p:sp>
        <p:nvSpPr>
          <p:cNvPr id="7" name="Text 5"/>
          <p:cNvSpPr/>
          <p:nvPr/>
        </p:nvSpPr>
        <p:spPr>
          <a:xfrm>
            <a:off x="914400" y="2450592"/>
            <a:ext cx="4572000" cy="384048"/>
          </a:xfrm>
          <a:prstGeom prst="rect">
            <a:avLst/>
          </a:prstGeom>
          <a:noFill/>
          <a:ln/>
        </p:spPr>
        <p:txBody>
          <a:bodyPr wrap="square" lIns="0" tIns="0" rIns="0" bIns="0" rtlCol="0" anchor="ctr"/>
          <a:lstStyle/>
          <a:p>
            <a:pPr indent="0" marL="0">
              <a:buNone/>
            </a:pPr>
            <a:r>
              <a:rPr lang="en-US" sz="2100" b="1" dirty="0">
                <a:solidFill>
                  <a:srgbClr val="0E2A31"/>
                </a:solidFill>
                <a:latin typeface="Cambria" pitchFamily="34" charset="0"/>
                <a:ea typeface="Cambria" pitchFamily="34" charset="-122"/>
                <a:cs typeface="Cambria" pitchFamily="34" charset="-120"/>
              </a:rPr>
              <a:t>decides what matters</a:t>
            </a:r>
            <a:endParaRPr lang="en-US" sz="2100" dirty="0"/>
          </a:p>
        </p:txBody>
      </p:sp>
      <p:sp>
        <p:nvSpPr>
          <p:cNvPr id="8" name="Text 6"/>
          <p:cNvSpPr/>
          <p:nvPr/>
        </p:nvSpPr>
        <p:spPr>
          <a:xfrm>
            <a:off x="914400" y="2907792"/>
            <a:ext cx="4663440" cy="1005840"/>
          </a:xfrm>
          <a:prstGeom prst="rect">
            <a:avLst/>
          </a:prstGeom>
          <a:noFill/>
          <a:ln/>
        </p:spPr>
        <p:txBody>
          <a:bodyPr wrap="square" lIns="0" tIns="0" rIns="0" bIns="0" rtlCol="0" anchor="ctr"/>
          <a:lstStyle/>
          <a:p>
            <a:pPr indent="0" marL="0">
              <a:lnSpc>
                <a:spcPts val="1800"/>
              </a:lnSpc>
              <a:buNone/>
            </a:pPr>
            <a:r>
              <a:rPr lang="en-US" sz="1350" dirty="0">
                <a:solidFill>
                  <a:srgbClr val="5E7078"/>
                </a:solidFill>
                <a:latin typeface="Calibri" pitchFamily="34" charset="0"/>
                <a:ea typeface="Calibri" pitchFamily="34" charset="-122"/>
                <a:cs typeface="Calibri" pitchFamily="34" charset="-120"/>
              </a:rPr>
              <a:t>Deterministic and unit-tested. Same inputs, same ranking, every time. Every score carries its factor breakdown, so “why is this first” is an arithmetic answer.</a:t>
            </a:r>
            <a:endParaRPr lang="en-US" sz="1350" dirty="0"/>
          </a:p>
        </p:txBody>
      </p:sp>
      <p:sp>
        <p:nvSpPr>
          <p:cNvPr id="9" name="Shape 7"/>
          <p:cNvSpPr/>
          <p:nvPr/>
        </p:nvSpPr>
        <p:spPr>
          <a:xfrm>
            <a:off x="6263640" y="1783080"/>
            <a:ext cx="5349240" cy="2286000"/>
          </a:xfrm>
          <a:prstGeom prst="roundRect">
            <a:avLst>
              <a:gd name="adj" fmla="val 3200"/>
            </a:avLst>
          </a:prstGeom>
          <a:solidFill>
            <a:srgbClr val="F1F5F6"/>
          </a:solidFill>
          <a:ln w="12700">
            <a:solidFill>
              <a:srgbClr val="D5DFE2"/>
            </a:solidFill>
            <a:prstDash val="solid"/>
          </a:ln>
        </p:spPr>
      </p:sp>
      <p:sp>
        <p:nvSpPr>
          <p:cNvPr id="10" name="Shape 8"/>
          <p:cNvSpPr/>
          <p:nvPr/>
        </p:nvSpPr>
        <p:spPr>
          <a:xfrm>
            <a:off x="6611112" y="2057400"/>
            <a:ext cx="310896" cy="310896"/>
          </a:xfrm>
          <a:prstGeom prst="ellipse">
            <a:avLst/>
          </a:prstGeom>
          <a:solidFill>
            <a:srgbClr val="C2610F"/>
          </a:solidFill>
          <a:ln/>
        </p:spPr>
      </p:sp>
      <p:sp>
        <p:nvSpPr>
          <p:cNvPr id="11" name="Text 9"/>
          <p:cNvSpPr/>
          <p:nvPr/>
        </p:nvSpPr>
        <p:spPr>
          <a:xfrm>
            <a:off x="7132320" y="2066544"/>
            <a:ext cx="3840480" cy="274320"/>
          </a:xfrm>
          <a:prstGeom prst="rect">
            <a:avLst/>
          </a:prstGeom>
          <a:noFill/>
          <a:ln/>
        </p:spPr>
        <p:txBody>
          <a:bodyPr wrap="square" lIns="0" tIns="0" rIns="0" bIns="0" rtlCol="0" anchor="ctr"/>
          <a:lstStyle/>
          <a:p>
            <a:pPr indent="0" marL="0">
              <a:buNone/>
            </a:pPr>
            <a:r>
              <a:rPr lang="en-US" sz="1050" b="1" spc="160" kern="0" dirty="0">
                <a:solidFill>
                  <a:srgbClr val="C2610F"/>
                </a:solidFill>
                <a:latin typeface="Courier New" pitchFamily="34" charset="0"/>
                <a:ea typeface="Courier New" pitchFamily="34" charset="-122"/>
                <a:cs typeface="Courier New" pitchFamily="34" charset="-120"/>
              </a:rPr>
              <a:t>THE MODEL</a:t>
            </a:r>
            <a:endParaRPr lang="en-US" sz="1050" dirty="0"/>
          </a:p>
        </p:txBody>
      </p:sp>
      <p:sp>
        <p:nvSpPr>
          <p:cNvPr id="12" name="Text 10"/>
          <p:cNvSpPr/>
          <p:nvPr/>
        </p:nvSpPr>
        <p:spPr>
          <a:xfrm>
            <a:off x="6629400" y="2450592"/>
            <a:ext cx="4572000" cy="384048"/>
          </a:xfrm>
          <a:prstGeom prst="rect">
            <a:avLst/>
          </a:prstGeom>
          <a:noFill/>
          <a:ln/>
        </p:spPr>
        <p:txBody>
          <a:bodyPr wrap="square" lIns="0" tIns="0" rIns="0" bIns="0" rtlCol="0" anchor="ctr"/>
          <a:lstStyle/>
          <a:p>
            <a:pPr indent="0" marL="0">
              <a:buNone/>
            </a:pPr>
            <a:r>
              <a:rPr lang="en-US" sz="2100" b="1" dirty="0">
                <a:solidFill>
                  <a:srgbClr val="0E2A31"/>
                </a:solidFill>
                <a:latin typeface="Cambria" pitchFamily="34" charset="0"/>
                <a:ea typeface="Cambria" pitchFamily="34" charset="-122"/>
                <a:cs typeface="Cambria" pitchFamily="34" charset="-120"/>
              </a:rPr>
              <a:t>writes it up</a:t>
            </a:r>
            <a:endParaRPr lang="en-US" sz="2100" dirty="0"/>
          </a:p>
        </p:txBody>
      </p:sp>
      <p:sp>
        <p:nvSpPr>
          <p:cNvPr id="13" name="Text 11"/>
          <p:cNvSpPr/>
          <p:nvPr/>
        </p:nvSpPr>
        <p:spPr>
          <a:xfrm>
            <a:off x="6629400" y="2907792"/>
            <a:ext cx="4663440" cy="1005840"/>
          </a:xfrm>
          <a:prstGeom prst="rect">
            <a:avLst/>
          </a:prstGeom>
          <a:noFill/>
          <a:ln/>
        </p:spPr>
        <p:txBody>
          <a:bodyPr wrap="square" lIns="0" tIns="0" rIns="0" bIns="0" rtlCol="0" anchor="ctr"/>
          <a:lstStyle/>
          <a:p>
            <a:pPr indent="0" marL="0">
              <a:lnSpc>
                <a:spcPts val="1800"/>
              </a:lnSpc>
              <a:buNone/>
            </a:pPr>
            <a:r>
              <a:rPr lang="en-US" sz="1350" dirty="0">
                <a:solidFill>
                  <a:srgbClr val="5E7078"/>
                </a:solidFill>
                <a:latin typeface="Calibri" pitchFamily="34" charset="0"/>
                <a:ea typeface="Calibri" pitchFamily="34" charset="-122"/>
                <a:cs typeface="Calibri" pitchFamily="34" charset="-120"/>
              </a:rPr>
              <a:t>It receives the already-ranked list, and its system prompt says selection is not its job. It cannot re-order, add stories, or introduce a number that was not in the input.</a:t>
            </a:r>
            <a:endParaRPr lang="en-US" sz="1350" dirty="0"/>
          </a:p>
        </p:txBody>
      </p:sp>
      <p:sp>
        <p:nvSpPr>
          <p:cNvPr id="14" name="Text 12"/>
          <p:cNvSpPr/>
          <p:nvPr/>
        </p:nvSpPr>
        <p:spPr>
          <a:xfrm>
            <a:off x="548640" y="4434840"/>
            <a:ext cx="11064240" cy="731520"/>
          </a:xfrm>
          <a:prstGeom prst="rect">
            <a:avLst/>
          </a:prstGeom>
          <a:noFill/>
          <a:ln/>
        </p:spPr>
        <p:txBody>
          <a:bodyPr wrap="square" lIns="0" tIns="0" rIns="0" bIns="0" rtlCol="0" anchor="ctr"/>
          <a:lstStyle/>
          <a:p>
            <a:pPr indent="0" marL="0">
              <a:lnSpc>
                <a:spcPts val="2200"/>
              </a:lnSpc>
              <a:buNone/>
            </a:pPr>
            <a:r>
              <a:rPr lang="en-US" sz="1500" dirty="0">
                <a:solidFill>
                  <a:srgbClr val="24343B"/>
                </a:solidFill>
                <a:latin typeface="Calibri" pitchFamily="34" charset="0"/>
                <a:ea typeface="Calibri" pitchFamily="34" charset="-122"/>
                <a:cs typeface="Calibri" pitchFamily="34" charset="-120"/>
              </a:rPr>
              <a:t>So when the briefing leads with the wrong thing, the fault is in a factor weight — visible, reproducible, fixable — instead of in a sampling temperature.</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THE PRODUCT</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This is what arrives at 08:30</a:t>
            </a:r>
            <a:endParaRPr lang="en-US" sz="3400" dirty="0"/>
          </a:p>
        </p:txBody>
      </p:sp>
      <p:sp>
        <p:nvSpPr>
          <p:cNvPr id="4" name="Shape 2"/>
          <p:cNvSpPr/>
          <p:nvPr/>
        </p:nvSpPr>
        <p:spPr>
          <a:xfrm>
            <a:off x="548640" y="1737360"/>
            <a:ext cx="5669280" cy="4160520"/>
          </a:xfrm>
          <a:prstGeom prst="roundRect">
            <a:avLst>
              <a:gd name="adj" fmla="val 1319"/>
            </a:avLst>
          </a:prstGeom>
          <a:solidFill>
            <a:srgbClr val="F1F5F6"/>
          </a:solidFill>
          <a:ln w="22225">
            <a:solidFill>
              <a:srgbClr val="B9C6CA"/>
            </a:solidFill>
            <a:prstDash val="dash"/>
          </a:ln>
        </p:spPr>
      </p:sp>
      <p:sp>
        <p:nvSpPr>
          <p:cNvPr id="5" name="Text 3"/>
          <p:cNvSpPr/>
          <p:nvPr/>
        </p:nvSpPr>
        <p:spPr>
          <a:xfrm>
            <a:off x="822960" y="3342132"/>
            <a:ext cx="5120640" cy="384048"/>
          </a:xfrm>
          <a:prstGeom prst="rect">
            <a:avLst/>
          </a:prstGeom>
          <a:noFill/>
          <a:ln/>
        </p:spPr>
        <p:txBody>
          <a:bodyPr wrap="square" lIns="0" tIns="0" rIns="0" bIns="0" rtlCol="0" anchor="ctr"/>
          <a:lstStyle/>
          <a:p>
            <a:pPr algn="ctr" indent="0" marL="0">
              <a:buNone/>
            </a:pPr>
            <a:r>
              <a:rPr lang="en-US" sz="1700" b="1" dirty="0">
                <a:solidFill>
                  <a:srgbClr val="0E5B69"/>
                </a:solidFill>
                <a:latin typeface="Calibri" pitchFamily="34" charset="0"/>
                <a:ea typeface="Calibri" pitchFamily="34" charset="-122"/>
                <a:cs typeface="Calibri" pitchFamily="34" charset="-120"/>
              </a:rPr>
              <a:t>📷  Telegram — daily briefing</a:t>
            </a:r>
            <a:endParaRPr lang="en-US" sz="1700" dirty="0"/>
          </a:p>
        </p:txBody>
      </p:sp>
      <p:sp>
        <p:nvSpPr>
          <p:cNvPr id="6" name="Text 4"/>
          <p:cNvSpPr/>
          <p:nvPr/>
        </p:nvSpPr>
        <p:spPr>
          <a:xfrm>
            <a:off x="868680" y="3762756"/>
            <a:ext cx="5029200" cy="658368"/>
          </a:xfrm>
          <a:prstGeom prst="rect">
            <a:avLst/>
          </a:prstGeom>
          <a:noFill/>
          <a:ln/>
        </p:spPr>
        <p:txBody>
          <a:bodyPr wrap="square" lIns="0" tIns="0" rIns="0" bIns="0" rtlCol="0" anchor="ctr"/>
          <a:lstStyle/>
          <a:p>
            <a:pPr algn="ctr" indent="0" marL="0">
              <a:buNone/>
            </a:pPr>
            <a:r>
              <a:rPr lang="en-US" sz="1150" dirty="0">
                <a:solidFill>
                  <a:srgbClr val="5E7078"/>
                </a:solidFill>
                <a:latin typeface="Courier New" pitchFamily="34" charset="0"/>
                <a:ea typeface="Courier New" pitchFamily="34" charset="-122"/>
                <a:cs typeface="Courier New" pitchFamily="34" charset="-120"/>
              </a:rPr>
              <a:t>Screenshot the /digest output.</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Include the headline, a few bullets,</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and the ranked Sources list below.</a:t>
            </a:r>
            <a:endParaRPr lang="en-US" sz="1150" dirty="0"/>
          </a:p>
        </p:txBody>
      </p:sp>
      <p:sp>
        <p:nvSpPr>
          <p:cNvPr id="7" name="Text 5"/>
          <p:cNvSpPr/>
          <p:nvPr/>
        </p:nvSpPr>
        <p:spPr>
          <a:xfrm>
            <a:off x="6629400" y="1828800"/>
            <a:ext cx="5029200" cy="329184"/>
          </a:xfrm>
          <a:prstGeom prst="rect">
            <a:avLst/>
          </a:prstGeom>
          <a:noFill/>
          <a:ln/>
        </p:spPr>
        <p:txBody>
          <a:bodyPr wrap="square" lIns="0" tIns="0" rIns="0" bIns="0" rtlCol="0" anchor="ctr"/>
          <a:lstStyle/>
          <a:p>
            <a:pPr indent="0" marL="0">
              <a:buNone/>
            </a:pPr>
            <a:r>
              <a:rPr lang="en-US" sz="1700" b="1" dirty="0">
                <a:solidFill>
                  <a:srgbClr val="0E2A31"/>
                </a:solidFill>
                <a:latin typeface="Calibri" pitchFamily="34" charset="0"/>
                <a:ea typeface="Calibri" pitchFamily="34" charset="-122"/>
                <a:cs typeface="Calibri" pitchFamily="34" charset="-120"/>
              </a:rPr>
              <a:t>Every morning, unprompted</a:t>
            </a:r>
            <a:endParaRPr lang="en-US" sz="1700" dirty="0"/>
          </a:p>
        </p:txBody>
      </p:sp>
      <p:sp>
        <p:nvSpPr>
          <p:cNvPr id="8" name="Text 6"/>
          <p:cNvSpPr/>
          <p:nvPr/>
        </p:nvSpPr>
        <p:spPr>
          <a:xfrm>
            <a:off x="6629400" y="2267712"/>
            <a:ext cx="4983480" cy="1234440"/>
          </a:xfrm>
          <a:prstGeom prst="rect">
            <a:avLst/>
          </a:prstGeom>
          <a:noFill/>
          <a:ln/>
        </p:spPr>
        <p:txBody>
          <a:bodyPr wrap="square" lIns="0" tIns="0" rIns="0" bIns="0" rtlCol="0" anchor="ctr"/>
          <a:lstStyle/>
          <a:p>
            <a:pPr indent="0" marL="0">
              <a:lnSpc>
                <a:spcPts val="1900"/>
              </a:lnSpc>
              <a:buNone/>
            </a:pPr>
            <a:r>
              <a:rPr lang="en-US" sz="1350" dirty="0">
                <a:solidFill>
                  <a:srgbClr val="5E7078"/>
                </a:solidFill>
                <a:latin typeface="Calibri" pitchFamily="34" charset="0"/>
                <a:ea typeface="Calibri" pitchFamily="34" charset="-122"/>
                <a:cs typeface="Calibri" pitchFamily="34" charset="-120"/>
              </a:rPr>
              <a:t>A written briefing at 08:30, plus an immediate alert for anything scoring above a threshold — because a digest answers “what happened yesterday” and an alert answers “this cannot wait”.</a:t>
            </a:r>
            <a:endParaRPr lang="en-US" sz="1350" dirty="0"/>
          </a:p>
        </p:txBody>
      </p:sp>
      <p:sp>
        <p:nvSpPr>
          <p:cNvPr id="9" name="Shape 7"/>
          <p:cNvSpPr/>
          <p:nvPr/>
        </p:nvSpPr>
        <p:spPr>
          <a:xfrm>
            <a:off x="6629400" y="3657600"/>
            <a:ext cx="4983480" cy="548640"/>
          </a:xfrm>
          <a:prstGeom prst="roundRect">
            <a:avLst>
              <a:gd name="adj" fmla="val 10000"/>
            </a:avLst>
          </a:prstGeom>
          <a:solidFill>
            <a:srgbClr val="F1F5F6"/>
          </a:solidFill>
          <a:ln w="12700">
            <a:solidFill>
              <a:srgbClr val="D5DFE2"/>
            </a:solidFill>
            <a:prstDash val="solid"/>
          </a:ln>
        </p:spPr>
      </p:sp>
      <p:sp>
        <p:nvSpPr>
          <p:cNvPr id="10" name="Text 8"/>
          <p:cNvSpPr/>
          <p:nvPr/>
        </p:nvSpPr>
        <p:spPr>
          <a:xfrm>
            <a:off x="6812280" y="3657600"/>
            <a:ext cx="1600200" cy="548640"/>
          </a:xfrm>
          <a:prstGeom prst="rect">
            <a:avLst/>
          </a:prstGeom>
          <a:noFill/>
          <a:ln/>
        </p:spPr>
        <p:txBody>
          <a:bodyPr wrap="square" lIns="0" tIns="0" rIns="0" bIns="0" rtlCol="0" anchor="ctr"/>
          <a:lstStyle/>
          <a:p>
            <a:pPr indent="0" marL="0">
              <a:buNone/>
            </a:pPr>
            <a:r>
              <a:rPr lang="en-US" sz="1150" b="1" dirty="0">
                <a:solidFill>
                  <a:srgbClr val="0E5B69"/>
                </a:solidFill>
                <a:latin typeface="Courier New" pitchFamily="34" charset="0"/>
                <a:ea typeface="Courier New" pitchFamily="34" charset="-122"/>
                <a:cs typeface="Courier New" pitchFamily="34" charset="-120"/>
              </a:rPr>
              <a:t>08:30 daily</a:t>
            </a:r>
            <a:endParaRPr lang="en-US" sz="1150" dirty="0"/>
          </a:p>
        </p:txBody>
      </p:sp>
      <p:sp>
        <p:nvSpPr>
          <p:cNvPr id="11" name="Text 9"/>
          <p:cNvSpPr/>
          <p:nvPr/>
        </p:nvSpPr>
        <p:spPr>
          <a:xfrm>
            <a:off x="8412480" y="3657600"/>
            <a:ext cx="3063240" cy="548640"/>
          </a:xfrm>
          <a:prstGeom prst="rect">
            <a:avLst/>
          </a:prstGeom>
          <a:noFill/>
          <a:ln/>
        </p:spPr>
        <p:txBody>
          <a:bodyPr wrap="square" lIns="0" tIns="0" rIns="0" bIns="0" rtlCol="0" anchor="ctr"/>
          <a:lstStyle/>
          <a:p>
            <a:pPr indent="0" marL="0">
              <a:buNone/>
            </a:pPr>
            <a:r>
              <a:rPr lang="en-US" sz="1250" dirty="0">
                <a:solidFill>
                  <a:srgbClr val="24343B"/>
                </a:solidFill>
                <a:latin typeface="Calibri" pitchFamily="34" charset="0"/>
                <a:ea typeface="Calibri" pitchFamily="34" charset="-122"/>
                <a:cs typeface="Calibri" pitchFamily="34" charset="-120"/>
              </a:rPr>
              <a:t>full briefing, 2–3 messages</a:t>
            </a:r>
            <a:endParaRPr lang="en-US" sz="1250" dirty="0"/>
          </a:p>
        </p:txBody>
      </p:sp>
      <p:sp>
        <p:nvSpPr>
          <p:cNvPr id="12" name="Shape 10"/>
          <p:cNvSpPr/>
          <p:nvPr/>
        </p:nvSpPr>
        <p:spPr>
          <a:xfrm>
            <a:off x="6629400" y="4315968"/>
            <a:ext cx="4983480" cy="548640"/>
          </a:xfrm>
          <a:prstGeom prst="roundRect">
            <a:avLst>
              <a:gd name="adj" fmla="val 10000"/>
            </a:avLst>
          </a:prstGeom>
          <a:solidFill>
            <a:srgbClr val="F1F5F6"/>
          </a:solidFill>
          <a:ln w="12700">
            <a:solidFill>
              <a:srgbClr val="D5DFE2"/>
            </a:solidFill>
            <a:prstDash val="solid"/>
          </a:ln>
        </p:spPr>
      </p:sp>
      <p:sp>
        <p:nvSpPr>
          <p:cNvPr id="13" name="Text 11"/>
          <p:cNvSpPr/>
          <p:nvPr/>
        </p:nvSpPr>
        <p:spPr>
          <a:xfrm>
            <a:off x="6812280" y="4315968"/>
            <a:ext cx="1600200" cy="548640"/>
          </a:xfrm>
          <a:prstGeom prst="rect">
            <a:avLst/>
          </a:prstGeom>
          <a:noFill/>
          <a:ln/>
        </p:spPr>
        <p:txBody>
          <a:bodyPr wrap="square" lIns="0" tIns="0" rIns="0" bIns="0" rtlCol="0" anchor="ctr"/>
          <a:lstStyle/>
          <a:p>
            <a:pPr indent="0" marL="0">
              <a:buNone/>
            </a:pPr>
            <a:r>
              <a:rPr lang="en-US" sz="1150" b="1" dirty="0">
                <a:solidFill>
                  <a:srgbClr val="0E5B69"/>
                </a:solidFill>
                <a:latin typeface="Courier New" pitchFamily="34" charset="0"/>
                <a:ea typeface="Courier New" pitchFamily="34" charset="-122"/>
                <a:cs typeface="Courier New" pitchFamily="34" charset="-120"/>
              </a:rPr>
              <a:t>every 15 min</a:t>
            </a:r>
            <a:endParaRPr lang="en-US" sz="1150" dirty="0"/>
          </a:p>
        </p:txBody>
      </p:sp>
      <p:sp>
        <p:nvSpPr>
          <p:cNvPr id="14" name="Text 12"/>
          <p:cNvSpPr/>
          <p:nvPr/>
        </p:nvSpPr>
        <p:spPr>
          <a:xfrm>
            <a:off x="8412480" y="4315968"/>
            <a:ext cx="3063240" cy="548640"/>
          </a:xfrm>
          <a:prstGeom prst="rect">
            <a:avLst/>
          </a:prstGeom>
          <a:noFill/>
          <a:ln/>
        </p:spPr>
        <p:txBody>
          <a:bodyPr wrap="square" lIns="0" tIns="0" rIns="0" bIns="0" rtlCol="0" anchor="ctr"/>
          <a:lstStyle/>
          <a:p>
            <a:pPr indent="0" marL="0">
              <a:buNone/>
            </a:pPr>
            <a:r>
              <a:rPr lang="en-US" sz="1250" dirty="0">
                <a:solidFill>
                  <a:srgbClr val="24343B"/>
                </a:solidFill>
                <a:latin typeface="Calibri" pitchFamily="34" charset="0"/>
                <a:ea typeface="Calibri" pitchFamily="34" charset="-122"/>
                <a:cs typeface="Calibri" pitchFamily="34" charset="-120"/>
              </a:rPr>
              <a:t>alert poll, score ≥ 0.72 pushes now</a:t>
            </a:r>
            <a:endParaRPr lang="en-US" sz="1250" dirty="0"/>
          </a:p>
        </p:txBody>
      </p:sp>
      <p:sp>
        <p:nvSpPr>
          <p:cNvPr id="15" name="Shape 13"/>
          <p:cNvSpPr/>
          <p:nvPr/>
        </p:nvSpPr>
        <p:spPr>
          <a:xfrm>
            <a:off x="6629400" y="4974336"/>
            <a:ext cx="4983480" cy="548640"/>
          </a:xfrm>
          <a:prstGeom prst="roundRect">
            <a:avLst>
              <a:gd name="adj" fmla="val 10000"/>
            </a:avLst>
          </a:prstGeom>
          <a:solidFill>
            <a:srgbClr val="F1F5F6"/>
          </a:solidFill>
          <a:ln w="12700">
            <a:solidFill>
              <a:srgbClr val="D5DFE2"/>
            </a:solidFill>
            <a:prstDash val="solid"/>
          </a:ln>
        </p:spPr>
      </p:sp>
      <p:sp>
        <p:nvSpPr>
          <p:cNvPr id="16" name="Text 14"/>
          <p:cNvSpPr/>
          <p:nvPr/>
        </p:nvSpPr>
        <p:spPr>
          <a:xfrm>
            <a:off x="6812280" y="4974336"/>
            <a:ext cx="1600200" cy="548640"/>
          </a:xfrm>
          <a:prstGeom prst="rect">
            <a:avLst/>
          </a:prstGeom>
          <a:noFill/>
          <a:ln/>
        </p:spPr>
        <p:txBody>
          <a:bodyPr wrap="square" lIns="0" tIns="0" rIns="0" bIns="0" rtlCol="0" anchor="ctr"/>
          <a:lstStyle/>
          <a:p>
            <a:pPr indent="0" marL="0">
              <a:buNone/>
            </a:pPr>
            <a:r>
              <a:rPr lang="en-US" sz="1150" b="1" dirty="0">
                <a:solidFill>
                  <a:srgbClr val="0E5B69"/>
                </a:solidFill>
                <a:latin typeface="Courier New" pitchFamily="34" charset="0"/>
                <a:ea typeface="Courier New" pitchFamily="34" charset="-122"/>
                <a:cs typeface="Courier New" pitchFamily="34" charset="-120"/>
              </a:rPr>
              <a:t>any time</a:t>
            </a:r>
            <a:endParaRPr lang="en-US" sz="1150" dirty="0"/>
          </a:p>
        </p:txBody>
      </p:sp>
      <p:sp>
        <p:nvSpPr>
          <p:cNvPr id="17" name="Text 15"/>
          <p:cNvSpPr/>
          <p:nvPr/>
        </p:nvSpPr>
        <p:spPr>
          <a:xfrm>
            <a:off x="8412480" y="4974336"/>
            <a:ext cx="3063240" cy="548640"/>
          </a:xfrm>
          <a:prstGeom prst="rect">
            <a:avLst/>
          </a:prstGeom>
          <a:noFill/>
          <a:ln/>
        </p:spPr>
        <p:txBody>
          <a:bodyPr wrap="square" lIns="0" tIns="0" rIns="0" bIns="0" rtlCol="0" anchor="ctr"/>
          <a:lstStyle/>
          <a:p>
            <a:pPr indent="0" marL="0">
              <a:buNone/>
            </a:pPr>
            <a:r>
              <a:rPr lang="en-US" sz="1250" dirty="0">
                <a:solidFill>
                  <a:srgbClr val="24343B"/>
                </a:solidFill>
                <a:latin typeface="Calibri" pitchFamily="34" charset="0"/>
                <a:ea typeface="Calibri" pitchFamily="34" charset="-122"/>
                <a:cs typeface="Calibri" pitchFamily="34" charset="-120"/>
              </a:rPr>
              <a:t>/top  /digest  /weights</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HOW IT WORKS</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Seven stages, each one testable</a:t>
            </a:r>
            <a:endParaRPr lang="en-US" sz="3400" dirty="0"/>
          </a:p>
        </p:txBody>
      </p:sp>
      <p:sp>
        <p:nvSpPr>
          <p:cNvPr id="4" name="Shape 2"/>
          <p:cNvSpPr/>
          <p:nvPr/>
        </p:nvSpPr>
        <p:spPr>
          <a:xfrm>
            <a:off x="548640" y="1783080"/>
            <a:ext cx="1490472" cy="2606040"/>
          </a:xfrm>
          <a:prstGeom prst="roundRect">
            <a:avLst>
              <a:gd name="adj" fmla="val 4294"/>
            </a:avLst>
          </a:prstGeom>
          <a:solidFill>
            <a:srgbClr val="F1F5F6"/>
          </a:solidFill>
          <a:ln w="12700">
            <a:solidFill>
              <a:srgbClr val="D5DFE2"/>
            </a:solidFill>
            <a:prstDash val="solid"/>
          </a:ln>
        </p:spPr>
      </p:sp>
      <p:sp>
        <p:nvSpPr>
          <p:cNvPr id="5" name="Text 3"/>
          <p:cNvSpPr/>
          <p:nvPr/>
        </p:nvSpPr>
        <p:spPr>
          <a:xfrm>
            <a:off x="548640" y="1938528"/>
            <a:ext cx="1490472" cy="365760"/>
          </a:xfrm>
          <a:prstGeom prst="rect">
            <a:avLst/>
          </a:prstGeom>
          <a:noFill/>
          <a:ln/>
        </p:spPr>
        <p:txBody>
          <a:bodyPr wrap="square" lIns="0" tIns="0" rIns="0" bIns="0" rtlCol="0" anchor="ctr"/>
          <a:lstStyle/>
          <a:p>
            <a:pPr algn="ctr" indent="0" marL="0">
              <a:buNone/>
            </a:pPr>
            <a:r>
              <a:rPr lang="en-US" sz="1700" b="1" dirty="0">
                <a:solidFill>
                  <a:srgbClr val="C2610F"/>
                </a:solidFill>
                <a:latin typeface="Courier New" pitchFamily="34" charset="0"/>
                <a:ea typeface="Courier New" pitchFamily="34" charset="-122"/>
                <a:cs typeface="Courier New" pitchFamily="34" charset="-120"/>
              </a:rPr>
              <a:t>0</a:t>
            </a:r>
            <a:endParaRPr lang="en-US" sz="1700" dirty="0"/>
          </a:p>
        </p:txBody>
      </p:sp>
      <p:sp>
        <p:nvSpPr>
          <p:cNvPr id="6" name="Text 4"/>
          <p:cNvSpPr/>
          <p:nvPr/>
        </p:nvSpPr>
        <p:spPr>
          <a:xfrm>
            <a:off x="621792" y="2340864"/>
            <a:ext cx="1344168" cy="329184"/>
          </a:xfrm>
          <a:prstGeom prst="rect">
            <a:avLst/>
          </a:prstGeom>
          <a:noFill/>
          <a:ln/>
        </p:spPr>
        <p:txBody>
          <a:bodyPr wrap="square" lIns="0" tIns="0" rIns="0" bIns="0" rtlCol="0" anchor="ctr"/>
          <a:lstStyle/>
          <a:p>
            <a:pPr algn="ctr" indent="0" marL="0">
              <a:buNone/>
            </a:pPr>
            <a:r>
              <a:rPr lang="en-US" sz="1450" b="1" dirty="0">
                <a:solidFill>
                  <a:srgbClr val="0E2A31"/>
                </a:solidFill>
                <a:latin typeface="Cambria" pitchFamily="34" charset="0"/>
                <a:ea typeface="Cambria" pitchFamily="34" charset="-122"/>
                <a:cs typeface="Cambria" pitchFamily="34" charset="-120"/>
              </a:rPr>
              <a:t>Fetch</a:t>
            </a:r>
            <a:endParaRPr lang="en-US" sz="1450" dirty="0"/>
          </a:p>
        </p:txBody>
      </p:sp>
      <p:sp>
        <p:nvSpPr>
          <p:cNvPr id="7" name="Text 5"/>
          <p:cNvSpPr/>
          <p:nvPr/>
        </p:nvSpPr>
        <p:spPr>
          <a:xfrm>
            <a:off x="640080" y="2724912"/>
            <a:ext cx="1307592" cy="1463040"/>
          </a:xfrm>
          <a:prstGeom prst="rect">
            <a:avLst/>
          </a:prstGeom>
          <a:noFill/>
          <a:ln/>
        </p:spPr>
        <p:txBody>
          <a:bodyPr wrap="square" lIns="0" tIns="0" rIns="0" bIns="0" rtlCol="0" anchor="ctr"/>
          <a:lstStyle/>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12 feeds, concurrent,</a:t>
            </a:r>
            <a:endParaRPr lang="en-US" sz="1050" dirty="0"/>
          </a:p>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independently timed out</a:t>
            </a:r>
            <a:endParaRPr lang="en-US" sz="1050" dirty="0"/>
          </a:p>
        </p:txBody>
      </p:sp>
      <p:sp>
        <p:nvSpPr>
          <p:cNvPr id="8" name="Shape 6"/>
          <p:cNvSpPr/>
          <p:nvPr/>
        </p:nvSpPr>
        <p:spPr>
          <a:xfrm>
            <a:off x="2157984" y="1783080"/>
            <a:ext cx="1490472" cy="2606040"/>
          </a:xfrm>
          <a:prstGeom prst="roundRect">
            <a:avLst>
              <a:gd name="adj" fmla="val 4294"/>
            </a:avLst>
          </a:prstGeom>
          <a:solidFill>
            <a:srgbClr val="F1F5F6"/>
          </a:solidFill>
          <a:ln w="12700">
            <a:solidFill>
              <a:srgbClr val="D5DFE2"/>
            </a:solidFill>
            <a:prstDash val="solid"/>
          </a:ln>
        </p:spPr>
      </p:sp>
      <p:sp>
        <p:nvSpPr>
          <p:cNvPr id="9" name="Text 7"/>
          <p:cNvSpPr/>
          <p:nvPr/>
        </p:nvSpPr>
        <p:spPr>
          <a:xfrm>
            <a:off x="2157984" y="1938528"/>
            <a:ext cx="1490472" cy="365760"/>
          </a:xfrm>
          <a:prstGeom prst="rect">
            <a:avLst/>
          </a:prstGeom>
          <a:noFill/>
          <a:ln/>
        </p:spPr>
        <p:txBody>
          <a:bodyPr wrap="square" lIns="0" tIns="0" rIns="0" bIns="0" rtlCol="0" anchor="ctr"/>
          <a:lstStyle/>
          <a:p>
            <a:pPr algn="ctr" indent="0" marL="0">
              <a:buNone/>
            </a:pPr>
            <a:r>
              <a:rPr lang="en-US" sz="1700" b="1" dirty="0">
                <a:solidFill>
                  <a:srgbClr val="C2610F"/>
                </a:solidFill>
                <a:latin typeface="Courier New" pitchFamily="34" charset="0"/>
                <a:ea typeface="Courier New" pitchFamily="34" charset="-122"/>
                <a:cs typeface="Courier New" pitchFamily="34" charset="-120"/>
              </a:rPr>
              <a:t>1</a:t>
            </a:r>
            <a:endParaRPr lang="en-US" sz="1700" dirty="0"/>
          </a:p>
        </p:txBody>
      </p:sp>
      <p:sp>
        <p:nvSpPr>
          <p:cNvPr id="10" name="Text 8"/>
          <p:cNvSpPr/>
          <p:nvPr/>
        </p:nvSpPr>
        <p:spPr>
          <a:xfrm>
            <a:off x="2231136" y="2340864"/>
            <a:ext cx="1344168" cy="329184"/>
          </a:xfrm>
          <a:prstGeom prst="rect">
            <a:avLst/>
          </a:prstGeom>
          <a:noFill/>
          <a:ln/>
        </p:spPr>
        <p:txBody>
          <a:bodyPr wrap="square" lIns="0" tIns="0" rIns="0" bIns="0" rtlCol="0" anchor="ctr"/>
          <a:lstStyle/>
          <a:p>
            <a:pPr algn="ctr" indent="0" marL="0">
              <a:buNone/>
            </a:pPr>
            <a:r>
              <a:rPr lang="en-US" sz="1450" b="1" dirty="0">
                <a:solidFill>
                  <a:srgbClr val="0E2A31"/>
                </a:solidFill>
                <a:latin typeface="Cambria" pitchFamily="34" charset="0"/>
                <a:ea typeface="Cambria" pitchFamily="34" charset="-122"/>
                <a:cs typeface="Cambria" pitchFamily="34" charset="-120"/>
              </a:rPr>
              <a:t>Hard filter</a:t>
            </a:r>
            <a:endParaRPr lang="en-US" sz="1450" dirty="0"/>
          </a:p>
        </p:txBody>
      </p:sp>
      <p:sp>
        <p:nvSpPr>
          <p:cNvPr id="11" name="Text 9"/>
          <p:cNvSpPr/>
          <p:nvPr/>
        </p:nvSpPr>
        <p:spPr>
          <a:xfrm>
            <a:off x="2249424" y="2724912"/>
            <a:ext cx="1307592" cy="1463040"/>
          </a:xfrm>
          <a:prstGeom prst="rect">
            <a:avLst/>
          </a:prstGeom>
          <a:noFill/>
          <a:ln/>
        </p:spPr>
        <p:txBody>
          <a:bodyPr wrap="square" lIns="0" tIns="0" rIns="0" bIns="0" rtlCol="0" anchor="ctr"/>
          <a:lstStyle/>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clickbait, bare price ticks,</a:t>
            </a:r>
            <a:endParaRPr lang="en-US" sz="1050" dirty="0"/>
          </a:p>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macro noise — binary, not a penalty</a:t>
            </a:r>
            <a:endParaRPr lang="en-US" sz="1050" dirty="0"/>
          </a:p>
        </p:txBody>
      </p:sp>
      <p:sp>
        <p:nvSpPr>
          <p:cNvPr id="12" name="Shape 10"/>
          <p:cNvSpPr/>
          <p:nvPr/>
        </p:nvSpPr>
        <p:spPr>
          <a:xfrm>
            <a:off x="3767328" y="1783080"/>
            <a:ext cx="1490472" cy="2606040"/>
          </a:xfrm>
          <a:prstGeom prst="roundRect">
            <a:avLst>
              <a:gd name="adj" fmla="val 4294"/>
            </a:avLst>
          </a:prstGeom>
          <a:solidFill>
            <a:srgbClr val="0E2A31"/>
          </a:solidFill>
          <a:ln w="12700">
            <a:solidFill>
              <a:srgbClr val="0E2A31"/>
            </a:solidFill>
            <a:prstDash val="solid"/>
          </a:ln>
        </p:spPr>
      </p:sp>
      <p:sp>
        <p:nvSpPr>
          <p:cNvPr id="13" name="Text 11"/>
          <p:cNvSpPr/>
          <p:nvPr/>
        </p:nvSpPr>
        <p:spPr>
          <a:xfrm>
            <a:off x="3767328" y="1938528"/>
            <a:ext cx="1490472" cy="365760"/>
          </a:xfrm>
          <a:prstGeom prst="rect">
            <a:avLst/>
          </a:prstGeom>
          <a:noFill/>
          <a:ln/>
        </p:spPr>
        <p:txBody>
          <a:bodyPr wrap="square" lIns="0" tIns="0" rIns="0" bIns="0" rtlCol="0" anchor="ctr"/>
          <a:lstStyle/>
          <a:p>
            <a:pPr algn="ctr" indent="0" marL="0">
              <a:buNone/>
            </a:pPr>
            <a:r>
              <a:rPr lang="en-US" sz="1700" b="1" dirty="0">
                <a:solidFill>
                  <a:srgbClr val="E8963C"/>
                </a:solidFill>
                <a:latin typeface="Courier New" pitchFamily="34" charset="0"/>
                <a:ea typeface="Courier New" pitchFamily="34" charset="-122"/>
                <a:cs typeface="Courier New" pitchFamily="34" charset="-120"/>
              </a:rPr>
              <a:t>2</a:t>
            </a:r>
            <a:endParaRPr lang="en-US" sz="1700" dirty="0"/>
          </a:p>
        </p:txBody>
      </p:sp>
      <p:sp>
        <p:nvSpPr>
          <p:cNvPr id="14" name="Text 12"/>
          <p:cNvSpPr/>
          <p:nvPr/>
        </p:nvSpPr>
        <p:spPr>
          <a:xfrm>
            <a:off x="3840480" y="2340864"/>
            <a:ext cx="1344168"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Dedupe</a:t>
            </a:r>
            <a:endParaRPr lang="en-US" sz="1450" dirty="0"/>
          </a:p>
        </p:txBody>
      </p:sp>
      <p:sp>
        <p:nvSpPr>
          <p:cNvPr id="15" name="Text 13"/>
          <p:cNvSpPr/>
          <p:nvPr/>
        </p:nvSpPr>
        <p:spPr>
          <a:xfrm>
            <a:off x="3858768" y="2724912"/>
            <a:ext cx="1307592" cy="1463040"/>
          </a:xfrm>
          <a:prstGeom prst="rect">
            <a:avLst/>
          </a:prstGeom>
          <a:noFill/>
          <a:ln/>
        </p:spPr>
        <p:txBody>
          <a:bodyPr wrap="square" lIns="0" tIns="0" rIns="0" bIns="0" rtlCol="0" anchor="ctr"/>
          <a:lstStyle/>
          <a:p>
            <a:pPr algn="ctr" indent="0" marL="0">
              <a:lnSpc>
                <a:spcPts val="1400"/>
              </a:lnSpc>
              <a:buNone/>
            </a:pPr>
            <a:r>
              <a:rPr lang="en-US" sz="1050" dirty="0">
                <a:solidFill>
                  <a:srgbClr val="A8C0C6"/>
                </a:solidFill>
                <a:latin typeface="Calibri" pitchFamily="34" charset="0"/>
                <a:ea typeface="Calibri" pitchFamily="34" charset="-122"/>
                <a:cs typeface="Calibri" pitchFamily="34" charset="-120"/>
              </a:rPr>
              <a:t>TF-IDF ∪ entity overlap,</a:t>
            </a:r>
            <a:endParaRPr lang="en-US" sz="1050" dirty="0"/>
          </a:p>
          <a:p>
            <a:pPr algn="ctr" indent="0" marL="0">
              <a:lnSpc>
                <a:spcPts val="1400"/>
              </a:lnSpc>
              <a:buNone/>
            </a:pPr>
            <a:r>
              <a:rPr lang="en-US" sz="1050" dirty="0">
                <a:solidFill>
                  <a:srgbClr val="A8C0C6"/>
                </a:solidFill>
                <a:latin typeface="Calibri" pitchFamily="34" charset="0"/>
                <a:ea typeface="Calibri" pitchFamily="34" charset="-122"/>
                <a:cs typeface="Calibri" pitchFamily="34" charset="-120"/>
              </a:rPr>
              <a:t>grown to transitive closure</a:t>
            </a:r>
            <a:endParaRPr lang="en-US" sz="1050" dirty="0"/>
          </a:p>
        </p:txBody>
      </p:sp>
      <p:sp>
        <p:nvSpPr>
          <p:cNvPr id="16" name="Shape 14"/>
          <p:cNvSpPr/>
          <p:nvPr/>
        </p:nvSpPr>
        <p:spPr>
          <a:xfrm>
            <a:off x="5376672" y="1783080"/>
            <a:ext cx="1490472" cy="2606040"/>
          </a:xfrm>
          <a:prstGeom prst="roundRect">
            <a:avLst>
              <a:gd name="adj" fmla="val 4294"/>
            </a:avLst>
          </a:prstGeom>
          <a:solidFill>
            <a:srgbClr val="F1F5F6"/>
          </a:solidFill>
          <a:ln w="12700">
            <a:solidFill>
              <a:srgbClr val="D5DFE2"/>
            </a:solidFill>
            <a:prstDash val="solid"/>
          </a:ln>
        </p:spPr>
      </p:sp>
      <p:sp>
        <p:nvSpPr>
          <p:cNvPr id="17" name="Text 15"/>
          <p:cNvSpPr/>
          <p:nvPr/>
        </p:nvSpPr>
        <p:spPr>
          <a:xfrm>
            <a:off x="5376672" y="1938528"/>
            <a:ext cx="1490472" cy="365760"/>
          </a:xfrm>
          <a:prstGeom prst="rect">
            <a:avLst/>
          </a:prstGeom>
          <a:noFill/>
          <a:ln/>
        </p:spPr>
        <p:txBody>
          <a:bodyPr wrap="square" lIns="0" tIns="0" rIns="0" bIns="0" rtlCol="0" anchor="ctr"/>
          <a:lstStyle/>
          <a:p>
            <a:pPr algn="ctr" indent="0" marL="0">
              <a:buNone/>
            </a:pPr>
            <a:r>
              <a:rPr lang="en-US" sz="1700" b="1" dirty="0">
                <a:solidFill>
                  <a:srgbClr val="C2610F"/>
                </a:solidFill>
                <a:latin typeface="Courier New" pitchFamily="34" charset="0"/>
                <a:ea typeface="Courier New" pitchFamily="34" charset="-122"/>
                <a:cs typeface="Courier New" pitchFamily="34" charset="-120"/>
              </a:rPr>
              <a:t>3</a:t>
            </a:r>
            <a:endParaRPr lang="en-US" sz="1700" dirty="0"/>
          </a:p>
        </p:txBody>
      </p:sp>
      <p:sp>
        <p:nvSpPr>
          <p:cNvPr id="18" name="Text 16"/>
          <p:cNvSpPr/>
          <p:nvPr/>
        </p:nvSpPr>
        <p:spPr>
          <a:xfrm>
            <a:off x="5449824" y="2340864"/>
            <a:ext cx="1344168" cy="329184"/>
          </a:xfrm>
          <a:prstGeom prst="rect">
            <a:avLst/>
          </a:prstGeom>
          <a:noFill/>
          <a:ln/>
        </p:spPr>
        <p:txBody>
          <a:bodyPr wrap="square" lIns="0" tIns="0" rIns="0" bIns="0" rtlCol="0" anchor="ctr"/>
          <a:lstStyle/>
          <a:p>
            <a:pPr algn="ctr" indent="0" marL="0">
              <a:buNone/>
            </a:pPr>
            <a:r>
              <a:rPr lang="en-US" sz="1450" b="1" dirty="0">
                <a:solidFill>
                  <a:srgbClr val="0E2A31"/>
                </a:solidFill>
                <a:latin typeface="Cambria" pitchFamily="34" charset="0"/>
                <a:ea typeface="Cambria" pitchFamily="34" charset="-122"/>
                <a:cs typeface="Cambria" pitchFamily="34" charset="-120"/>
              </a:rPr>
              <a:t>Classify</a:t>
            </a:r>
            <a:endParaRPr lang="en-US" sz="1450" dirty="0"/>
          </a:p>
        </p:txBody>
      </p:sp>
      <p:sp>
        <p:nvSpPr>
          <p:cNvPr id="19" name="Text 17"/>
          <p:cNvSpPr/>
          <p:nvPr/>
        </p:nvSpPr>
        <p:spPr>
          <a:xfrm>
            <a:off x="5468112" y="2724912"/>
            <a:ext cx="1307592" cy="1463040"/>
          </a:xfrm>
          <a:prstGeom prst="rect">
            <a:avLst/>
          </a:prstGeom>
          <a:noFill/>
          <a:ln/>
        </p:spPr>
        <p:txBody>
          <a:bodyPr wrap="square" lIns="0" tIns="0" rIns="0" bIns="0" rtlCol="0" anchor="ctr"/>
          <a:lstStyle/>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5 categories, single-label,</a:t>
            </a:r>
            <a:endParaRPr lang="en-US" sz="1050" dirty="0"/>
          </a:p>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priority order</a:t>
            </a:r>
            <a:endParaRPr lang="en-US" sz="1050" dirty="0"/>
          </a:p>
        </p:txBody>
      </p:sp>
      <p:sp>
        <p:nvSpPr>
          <p:cNvPr id="20" name="Shape 18"/>
          <p:cNvSpPr/>
          <p:nvPr/>
        </p:nvSpPr>
        <p:spPr>
          <a:xfrm>
            <a:off x="6986016" y="1783080"/>
            <a:ext cx="1490472" cy="2606040"/>
          </a:xfrm>
          <a:prstGeom prst="roundRect">
            <a:avLst>
              <a:gd name="adj" fmla="val 4294"/>
            </a:avLst>
          </a:prstGeom>
          <a:solidFill>
            <a:srgbClr val="0E2A31"/>
          </a:solidFill>
          <a:ln w="12700">
            <a:solidFill>
              <a:srgbClr val="0E2A31"/>
            </a:solidFill>
            <a:prstDash val="solid"/>
          </a:ln>
        </p:spPr>
      </p:sp>
      <p:sp>
        <p:nvSpPr>
          <p:cNvPr id="21" name="Text 19"/>
          <p:cNvSpPr/>
          <p:nvPr/>
        </p:nvSpPr>
        <p:spPr>
          <a:xfrm>
            <a:off x="6986016" y="1938528"/>
            <a:ext cx="1490472" cy="365760"/>
          </a:xfrm>
          <a:prstGeom prst="rect">
            <a:avLst/>
          </a:prstGeom>
          <a:noFill/>
          <a:ln/>
        </p:spPr>
        <p:txBody>
          <a:bodyPr wrap="square" lIns="0" tIns="0" rIns="0" bIns="0" rtlCol="0" anchor="ctr"/>
          <a:lstStyle/>
          <a:p>
            <a:pPr algn="ctr" indent="0" marL="0">
              <a:buNone/>
            </a:pPr>
            <a:r>
              <a:rPr lang="en-US" sz="1700" b="1" dirty="0">
                <a:solidFill>
                  <a:srgbClr val="E8963C"/>
                </a:solidFill>
                <a:latin typeface="Courier New" pitchFamily="34" charset="0"/>
                <a:ea typeface="Courier New" pitchFamily="34" charset="-122"/>
                <a:cs typeface="Courier New" pitchFamily="34" charset="-120"/>
              </a:rPr>
              <a:t>4</a:t>
            </a:r>
            <a:endParaRPr lang="en-US" sz="1700" dirty="0"/>
          </a:p>
        </p:txBody>
      </p:sp>
      <p:sp>
        <p:nvSpPr>
          <p:cNvPr id="22" name="Text 20"/>
          <p:cNvSpPr/>
          <p:nvPr/>
        </p:nvSpPr>
        <p:spPr>
          <a:xfrm>
            <a:off x="7059168" y="2340864"/>
            <a:ext cx="1344168" cy="329184"/>
          </a:xfrm>
          <a:prstGeom prst="rect">
            <a:avLst/>
          </a:prstGeom>
          <a:noFill/>
          <a:ln/>
        </p:spPr>
        <p:txBody>
          <a:bodyPr wrap="square" lIns="0" tIns="0" rIns="0" bIns="0" rtlCol="0" anchor="ctr"/>
          <a:lstStyle/>
          <a:p>
            <a:pPr algn="ctr" indent="0" marL="0">
              <a:buNone/>
            </a:pPr>
            <a:r>
              <a:rPr lang="en-US" sz="1450" b="1" dirty="0">
                <a:solidFill>
                  <a:srgbClr val="FFFFFF"/>
                </a:solidFill>
                <a:latin typeface="Cambria" pitchFamily="34" charset="0"/>
                <a:ea typeface="Cambria" pitchFamily="34" charset="-122"/>
                <a:cs typeface="Cambria" pitchFamily="34" charset="-120"/>
              </a:rPr>
              <a:t>Score</a:t>
            </a:r>
            <a:endParaRPr lang="en-US" sz="1450" dirty="0"/>
          </a:p>
        </p:txBody>
      </p:sp>
      <p:sp>
        <p:nvSpPr>
          <p:cNvPr id="23" name="Text 21"/>
          <p:cNvSpPr/>
          <p:nvPr/>
        </p:nvSpPr>
        <p:spPr>
          <a:xfrm>
            <a:off x="7077456" y="2724912"/>
            <a:ext cx="1307592" cy="1463040"/>
          </a:xfrm>
          <a:prstGeom prst="rect">
            <a:avLst/>
          </a:prstGeom>
          <a:noFill/>
          <a:ln/>
        </p:spPr>
        <p:txBody>
          <a:bodyPr wrap="square" lIns="0" tIns="0" rIns="0" bIns="0" rtlCol="0" anchor="ctr"/>
          <a:lstStyle/>
          <a:p>
            <a:pPr algn="ctr" indent="0" marL="0">
              <a:lnSpc>
                <a:spcPts val="1400"/>
              </a:lnSpc>
              <a:buNone/>
            </a:pPr>
            <a:r>
              <a:rPr lang="en-US" sz="1050" dirty="0">
                <a:solidFill>
                  <a:srgbClr val="A8C0C6"/>
                </a:solidFill>
                <a:latin typeface="Calibri" pitchFamily="34" charset="0"/>
                <a:ea typeface="Calibri" pitchFamily="34" charset="-122"/>
                <a:cs typeface="Calibri" pitchFamily="34" charset="-120"/>
              </a:rPr>
              <a:t>8 weighted factors,</a:t>
            </a:r>
            <a:endParaRPr lang="en-US" sz="1050" dirty="0"/>
          </a:p>
          <a:p>
            <a:pPr algn="ctr" indent="0" marL="0">
              <a:lnSpc>
                <a:spcPts val="1400"/>
              </a:lnSpc>
              <a:buNone/>
            </a:pPr>
            <a:r>
              <a:rPr lang="en-US" sz="1050" dirty="0">
                <a:solidFill>
                  <a:srgbClr val="A8C0C6"/>
                </a:solidFill>
                <a:latin typeface="Calibri" pitchFamily="34" charset="0"/>
                <a:ea typeface="Calibri" pitchFamily="34" charset="-122"/>
                <a:cs typeface="Calibri" pitchFamily="34" charset="-120"/>
              </a:rPr>
              <a:t>normalised to 0–1</a:t>
            </a:r>
            <a:endParaRPr lang="en-US" sz="1050" dirty="0"/>
          </a:p>
        </p:txBody>
      </p:sp>
      <p:sp>
        <p:nvSpPr>
          <p:cNvPr id="24" name="Shape 22"/>
          <p:cNvSpPr/>
          <p:nvPr/>
        </p:nvSpPr>
        <p:spPr>
          <a:xfrm>
            <a:off x="8595360" y="1783080"/>
            <a:ext cx="1490472" cy="2606040"/>
          </a:xfrm>
          <a:prstGeom prst="roundRect">
            <a:avLst>
              <a:gd name="adj" fmla="val 4294"/>
            </a:avLst>
          </a:prstGeom>
          <a:solidFill>
            <a:srgbClr val="F1F5F6"/>
          </a:solidFill>
          <a:ln w="12700">
            <a:solidFill>
              <a:srgbClr val="D5DFE2"/>
            </a:solidFill>
            <a:prstDash val="solid"/>
          </a:ln>
        </p:spPr>
      </p:sp>
      <p:sp>
        <p:nvSpPr>
          <p:cNvPr id="25" name="Text 23"/>
          <p:cNvSpPr/>
          <p:nvPr/>
        </p:nvSpPr>
        <p:spPr>
          <a:xfrm>
            <a:off x="8595360" y="1938528"/>
            <a:ext cx="1490472" cy="365760"/>
          </a:xfrm>
          <a:prstGeom prst="rect">
            <a:avLst/>
          </a:prstGeom>
          <a:noFill/>
          <a:ln/>
        </p:spPr>
        <p:txBody>
          <a:bodyPr wrap="square" lIns="0" tIns="0" rIns="0" bIns="0" rtlCol="0" anchor="ctr"/>
          <a:lstStyle/>
          <a:p>
            <a:pPr algn="ctr" indent="0" marL="0">
              <a:buNone/>
            </a:pPr>
            <a:r>
              <a:rPr lang="en-US" sz="1700" b="1" dirty="0">
                <a:solidFill>
                  <a:srgbClr val="C2610F"/>
                </a:solidFill>
                <a:latin typeface="Courier New" pitchFamily="34" charset="0"/>
                <a:ea typeface="Courier New" pitchFamily="34" charset="-122"/>
                <a:cs typeface="Courier New" pitchFamily="34" charset="-120"/>
              </a:rPr>
              <a:t>5</a:t>
            </a:r>
            <a:endParaRPr lang="en-US" sz="1700" dirty="0"/>
          </a:p>
        </p:txBody>
      </p:sp>
      <p:sp>
        <p:nvSpPr>
          <p:cNvPr id="26" name="Text 24"/>
          <p:cNvSpPr/>
          <p:nvPr/>
        </p:nvSpPr>
        <p:spPr>
          <a:xfrm>
            <a:off x="8668512" y="2340864"/>
            <a:ext cx="1344168" cy="329184"/>
          </a:xfrm>
          <a:prstGeom prst="rect">
            <a:avLst/>
          </a:prstGeom>
          <a:noFill/>
          <a:ln/>
        </p:spPr>
        <p:txBody>
          <a:bodyPr wrap="square" lIns="0" tIns="0" rIns="0" bIns="0" rtlCol="0" anchor="ctr"/>
          <a:lstStyle/>
          <a:p>
            <a:pPr algn="ctr" indent="0" marL="0">
              <a:buNone/>
            </a:pPr>
            <a:r>
              <a:rPr lang="en-US" sz="1450" b="1" dirty="0">
                <a:solidFill>
                  <a:srgbClr val="0E2A31"/>
                </a:solidFill>
                <a:latin typeface="Cambria" pitchFamily="34" charset="0"/>
                <a:ea typeface="Cambria" pitchFamily="34" charset="-122"/>
                <a:cs typeface="Cambria" pitchFamily="34" charset="-120"/>
              </a:rPr>
              <a:t>Select</a:t>
            </a:r>
            <a:endParaRPr lang="en-US" sz="1450" dirty="0"/>
          </a:p>
        </p:txBody>
      </p:sp>
      <p:sp>
        <p:nvSpPr>
          <p:cNvPr id="27" name="Text 25"/>
          <p:cNvSpPr/>
          <p:nvPr/>
        </p:nvSpPr>
        <p:spPr>
          <a:xfrm>
            <a:off x="8686800" y="2724912"/>
            <a:ext cx="1307592" cy="1463040"/>
          </a:xfrm>
          <a:prstGeom prst="rect">
            <a:avLst/>
          </a:prstGeom>
          <a:noFill/>
          <a:ln/>
        </p:spPr>
        <p:txBody>
          <a:bodyPr wrap="square" lIns="0" tIns="0" rIns="0" bIns="0" rtlCol="0" anchor="ctr"/>
          <a:lstStyle/>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quality gate, per-subject cap,</a:t>
            </a:r>
            <a:endParaRPr lang="en-US" sz="1050" dirty="0"/>
          </a:p>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fixed count only as a floor</a:t>
            </a:r>
            <a:endParaRPr lang="en-US" sz="1050" dirty="0"/>
          </a:p>
        </p:txBody>
      </p:sp>
      <p:sp>
        <p:nvSpPr>
          <p:cNvPr id="28" name="Shape 26"/>
          <p:cNvSpPr/>
          <p:nvPr/>
        </p:nvSpPr>
        <p:spPr>
          <a:xfrm>
            <a:off x="10204704" y="1783080"/>
            <a:ext cx="1490472" cy="2606040"/>
          </a:xfrm>
          <a:prstGeom prst="roundRect">
            <a:avLst>
              <a:gd name="adj" fmla="val 4294"/>
            </a:avLst>
          </a:prstGeom>
          <a:solidFill>
            <a:srgbClr val="F1F5F6"/>
          </a:solidFill>
          <a:ln w="12700">
            <a:solidFill>
              <a:srgbClr val="D5DFE2"/>
            </a:solidFill>
            <a:prstDash val="solid"/>
          </a:ln>
        </p:spPr>
      </p:sp>
      <p:sp>
        <p:nvSpPr>
          <p:cNvPr id="29" name="Text 27"/>
          <p:cNvSpPr/>
          <p:nvPr/>
        </p:nvSpPr>
        <p:spPr>
          <a:xfrm>
            <a:off x="10204704" y="1938528"/>
            <a:ext cx="1490472" cy="365760"/>
          </a:xfrm>
          <a:prstGeom prst="rect">
            <a:avLst/>
          </a:prstGeom>
          <a:noFill/>
          <a:ln/>
        </p:spPr>
        <p:txBody>
          <a:bodyPr wrap="square" lIns="0" tIns="0" rIns="0" bIns="0" rtlCol="0" anchor="ctr"/>
          <a:lstStyle/>
          <a:p>
            <a:pPr algn="ctr" indent="0" marL="0">
              <a:buNone/>
            </a:pPr>
            <a:r>
              <a:rPr lang="en-US" sz="1700" b="1" dirty="0">
                <a:solidFill>
                  <a:srgbClr val="C2610F"/>
                </a:solidFill>
                <a:latin typeface="Courier New" pitchFamily="34" charset="0"/>
                <a:ea typeface="Courier New" pitchFamily="34" charset="-122"/>
                <a:cs typeface="Courier New" pitchFamily="34" charset="-120"/>
              </a:rPr>
              <a:t>6</a:t>
            </a:r>
            <a:endParaRPr lang="en-US" sz="1700" dirty="0"/>
          </a:p>
        </p:txBody>
      </p:sp>
      <p:sp>
        <p:nvSpPr>
          <p:cNvPr id="30" name="Text 28"/>
          <p:cNvSpPr/>
          <p:nvPr/>
        </p:nvSpPr>
        <p:spPr>
          <a:xfrm>
            <a:off x="10277856" y="2340864"/>
            <a:ext cx="1344168" cy="329184"/>
          </a:xfrm>
          <a:prstGeom prst="rect">
            <a:avLst/>
          </a:prstGeom>
          <a:noFill/>
          <a:ln/>
        </p:spPr>
        <p:txBody>
          <a:bodyPr wrap="square" lIns="0" tIns="0" rIns="0" bIns="0" rtlCol="0" anchor="ctr"/>
          <a:lstStyle/>
          <a:p>
            <a:pPr algn="ctr" indent="0" marL="0">
              <a:buNone/>
            </a:pPr>
            <a:r>
              <a:rPr lang="en-US" sz="1450" b="1" dirty="0">
                <a:solidFill>
                  <a:srgbClr val="0E2A31"/>
                </a:solidFill>
                <a:latin typeface="Cambria" pitchFamily="34" charset="0"/>
                <a:ea typeface="Cambria" pitchFamily="34" charset="-122"/>
                <a:cs typeface="Cambria" pitchFamily="34" charset="-120"/>
              </a:rPr>
              <a:t>Write &amp; send</a:t>
            </a:r>
            <a:endParaRPr lang="en-US" sz="1450" dirty="0"/>
          </a:p>
        </p:txBody>
      </p:sp>
      <p:sp>
        <p:nvSpPr>
          <p:cNvPr id="31" name="Text 29"/>
          <p:cNvSpPr/>
          <p:nvPr/>
        </p:nvSpPr>
        <p:spPr>
          <a:xfrm>
            <a:off x="10296144" y="2724912"/>
            <a:ext cx="1307592" cy="1463040"/>
          </a:xfrm>
          <a:prstGeom prst="rect">
            <a:avLst/>
          </a:prstGeom>
          <a:noFill/>
          <a:ln/>
        </p:spPr>
        <p:txBody>
          <a:bodyPr wrap="square" lIns="0" tIns="0" rIns="0" bIns="0" rtlCol="0" anchor="ctr"/>
          <a:lstStyle/>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LLM writes the top 10,</a:t>
            </a:r>
            <a:endParaRPr lang="en-US" sz="1050" dirty="0"/>
          </a:p>
          <a:p>
            <a:pPr algn="ctr" indent="0" marL="0">
              <a:lnSpc>
                <a:spcPts val="1400"/>
              </a:lnSpc>
              <a:buNone/>
            </a:pPr>
            <a:r>
              <a:rPr lang="en-US" sz="1050" dirty="0">
                <a:solidFill>
                  <a:srgbClr val="5E7078"/>
                </a:solidFill>
                <a:latin typeface="Calibri" pitchFamily="34" charset="0"/>
                <a:ea typeface="Calibri" pitchFamily="34" charset="-122"/>
                <a:cs typeface="Calibri" pitchFamily="34" charset="-120"/>
              </a:rPr>
              <a:t>Telegram splits long messages</a:t>
            </a:r>
            <a:endParaRPr lang="en-US" sz="1050" dirty="0"/>
          </a:p>
        </p:txBody>
      </p:sp>
      <p:sp>
        <p:nvSpPr>
          <p:cNvPr id="32" name="Text 30"/>
          <p:cNvSpPr/>
          <p:nvPr/>
        </p:nvSpPr>
        <p:spPr>
          <a:xfrm>
            <a:off x="548640" y="4526280"/>
            <a:ext cx="2011680" cy="274320"/>
          </a:xfrm>
          <a:prstGeom prst="rect">
            <a:avLst/>
          </a:prstGeom>
          <a:noFill/>
          <a:ln/>
        </p:spPr>
        <p:txBody>
          <a:bodyPr wrap="square" lIns="0" tIns="0" rIns="0" bIns="0" rtlCol="0" anchor="ctr"/>
          <a:lstStyle/>
          <a:p>
            <a:pPr indent="0" marL="0">
              <a:buNone/>
            </a:pPr>
            <a:r>
              <a:rPr lang="en-US" sz="1200" dirty="0">
                <a:solidFill>
                  <a:srgbClr val="5E7078"/>
                </a:solidFill>
                <a:latin typeface="Courier New" pitchFamily="34" charset="0"/>
                <a:ea typeface="Courier New" pitchFamily="34" charset="-122"/>
                <a:cs typeface="Courier New" pitchFamily="34" charset="-120"/>
              </a:rPr>
              <a:t>~157 raw</a:t>
            </a:r>
            <a:endParaRPr lang="en-US" sz="1200" dirty="0"/>
          </a:p>
        </p:txBody>
      </p:sp>
      <p:sp>
        <p:nvSpPr>
          <p:cNvPr id="33" name="Text 31"/>
          <p:cNvSpPr/>
          <p:nvPr/>
        </p:nvSpPr>
        <p:spPr>
          <a:xfrm>
            <a:off x="9966960" y="4526280"/>
            <a:ext cx="1645920" cy="274320"/>
          </a:xfrm>
          <a:prstGeom prst="rect">
            <a:avLst/>
          </a:prstGeom>
          <a:noFill/>
          <a:ln/>
        </p:spPr>
        <p:txBody>
          <a:bodyPr wrap="square" lIns="0" tIns="0" rIns="0" bIns="0" rtlCol="0" anchor="ctr"/>
          <a:lstStyle/>
          <a:p>
            <a:pPr algn="r" indent="0" marL="0">
              <a:buNone/>
            </a:pPr>
            <a:r>
              <a:rPr lang="en-US" sz="1200" b="1" dirty="0">
                <a:solidFill>
                  <a:srgbClr val="C2610F"/>
                </a:solidFill>
                <a:latin typeface="Courier New" pitchFamily="34" charset="0"/>
                <a:ea typeface="Courier New" pitchFamily="34" charset="-122"/>
                <a:cs typeface="Courier New" pitchFamily="34" charset="-120"/>
              </a:rPr>
              <a:t>18 selected</a:t>
            </a:r>
            <a:endParaRPr lang="en-US" sz="1200" dirty="0"/>
          </a:p>
        </p:txBody>
      </p:sp>
      <p:sp>
        <p:nvSpPr>
          <p:cNvPr id="34" name="Text 32"/>
          <p:cNvSpPr/>
          <p:nvPr/>
        </p:nvSpPr>
        <p:spPr>
          <a:xfrm>
            <a:off x="548640" y="4983480"/>
            <a:ext cx="11064240" cy="731520"/>
          </a:xfrm>
          <a:prstGeom prst="rect">
            <a:avLst/>
          </a:prstGeom>
          <a:noFill/>
          <a:ln/>
        </p:spPr>
        <p:txBody>
          <a:bodyPr wrap="square" lIns="0" tIns="0" rIns="0" bIns="0" rtlCol="0" anchor="ctr"/>
          <a:lstStyle/>
          <a:p>
            <a:pPr indent="0" marL="0">
              <a:lnSpc>
                <a:spcPts val="1900"/>
              </a:lnSpc>
              <a:buNone/>
            </a:pPr>
            <a:r>
              <a:rPr lang="en-US" sz="1350" dirty="0">
                <a:solidFill>
                  <a:srgbClr val="24343B"/>
                </a:solidFill>
                <a:latin typeface="Calibri" pitchFamily="34" charset="0"/>
                <a:ea typeface="Calibri" pitchFamily="34" charset="-122"/>
                <a:cs typeface="Calibri" pitchFamily="34" charset="-120"/>
              </a:rPr>
              <a:t>Crypto and macro are scored in separate pools. Pooled together, a Fed decision loses on the asset factor by construction — it names no token — and macro quietly vanishes from the briefing.</a:t>
            </a:r>
            <a:endParaRPr lang="en-US" sz="13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THE FORMULA</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Eight factors, and why each weight is what it is</a:t>
            </a:r>
            <a:endParaRPr lang="en-US" sz="3400" dirty="0"/>
          </a:p>
        </p:txBody>
      </p:sp>
      <p:sp>
        <p:nvSpPr>
          <p:cNvPr id="4" name="Text 2"/>
          <p:cNvSpPr/>
          <p:nvPr/>
        </p:nvSpPr>
        <p:spPr>
          <a:xfrm>
            <a:off x="548640" y="1691640"/>
            <a:ext cx="6766560" cy="365760"/>
          </a:xfrm>
          <a:prstGeom prst="rect">
            <a:avLst/>
          </a:prstGeom>
          <a:noFill/>
          <a:ln/>
        </p:spPr>
        <p:txBody>
          <a:bodyPr wrap="square" lIns="0" tIns="0" rIns="0" bIns="0" rtlCol="0" anchor="ctr"/>
          <a:lstStyle/>
          <a:p>
            <a:pPr indent="0" marL="0">
              <a:buNone/>
            </a:pPr>
            <a:r>
              <a:rPr lang="en-US" sz="1400" b="1" dirty="0">
                <a:solidFill>
                  <a:srgbClr val="0E5B69"/>
                </a:solidFill>
                <a:latin typeface="Courier New" pitchFamily="34" charset="0"/>
                <a:ea typeface="Courier New" pitchFamily="34" charset="-122"/>
                <a:cs typeface="Courier New" pitchFamily="34" charset="-120"/>
              </a:rPr>
              <a:t>score  =  Σ ( weight × factor )  ÷  Σ weight</a:t>
            </a:r>
            <a:endParaRPr lang="en-US" sz="1400" dirty="0"/>
          </a:p>
        </p:txBody>
      </p:sp>
      <p:sp>
        <p:nvSpPr>
          <p:cNvPr id="5" name="Shape 3"/>
          <p:cNvSpPr/>
          <p:nvPr/>
        </p:nvSpPr>
        <p:spPr>
          <a:xfrm>
            <a:off x="548640" y="2176272"/>
            <a:ext cx="6903720" cy="384048"/>
          </a:xfrm>
          <a:prstGeom prst="rect">
            <a:avLst/>
          </a:prstGeom>
          <a:solidFill>
            <a:srgbClr val="FFFFFF"/>
          </a:solidFill>
          <a:ln w="9525">
            <a:solidFill>
              <a:srgbClr val="D5DFE2"/>
            </a:solidFill>
            <a:prstDash val="solid"/>
          </a:ln>
        </p:spPr>
      </p:sp>
      <p:sp>
        <p:nvSpPr>
          <p:cNvPr id="6" name="Text 4"/>
          <p:cNvSpPr/>
          <p:nvPr/>
        </p:nvSpPr>
        <p:spPr>
          <a:xfrm>
            <a:off x="685800" y="2176272"/>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keyword</a:t>
            </a:r>
            <a:endParaRPr lang="en-US" sz="1150" dirty="0"/>
          </a:p>
        </p:txBody>
      </p:sp>
      <p:sp>
        <p:nvSpPr>
          <p:cNvPr id="7" name="Text 5"/>
          <p:cNvSpPr/>
          <p:nvPr/>
        </p:nvSpPr>
        <p:spPr>
          <a:xfrm>
            <a:off x="2423160" y="2176272"/>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0.185</a:t>
            </a:r>
            <a:endParaRPr lang="en-US" sz="1150" dirty="0"/>
          </a:p>
        </p:txBody>
      </p:sp>
      <p:sp>
        <p:nvSpPr>
          <p:cNvPr id="8" name="Text 6"/>
          <p:cNvSpPr/>
          <p:nvPr/>
        </p:nvSpPr>
        <p:spPr>
          <a:xfrm>
            <a:off x="3291840" y="2176272"/>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4 tiers, highest hit wins — not a sum</a:t>
            </a:r>
            <a:endParaRPr lang="en-US" sz="1150" dirty="0"/>
          </a:p>
        </p:txBody>
      </p:sp>
      <p:sp>
        <p:nvSpPr>
          <p:cNvPr id="9" name="Shape 7"/>
          <p:cNvSpPr/>
          <p:nvPr/>
        </p:nvSpPr>
        <p:spPr>
          <a:xfrm>
            <a:off x="548640" y="2606040"/>
            <a:ext cx="6903720" cy="384048"/>
          </a:xfrm>
          <a:prstGeom prst="rect">
            <a:avLst/>
          </a:prstGeom>
          <a:solidFill>
            <a:srgbClr val="F1F5F6"/>
          </a:solidFill>
          <a:ln w="9525">
            <a:solidFill>
              <a:srgbClr val="D5DFE2"/>
            </a:solidFill>
            <a:prstDash val="solid"/>
          </a:ln>
        </p:spPr>
      </p:sp>
      <p:sp>
        <p:nvSpPr>
          <p:cNvPr id="10" name="Text 8"/>
          <p:cNvSpPr/>
          <p:nvPr/>
        </p:nvSpPr>
        <p:spPr>
          <a:xfrm>
            <a:off x="685800" y="2606040"/>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recency</a:t>
            </a:r>
            <a:endParaRPr lang="en-US" sz="1150" dirty="0"/>
          </a:p>
        </p:txBody>
      </p:sp>
      <p:sp>
        <p:nvSpPr>
          <p:cNvPr id="11" name="Text 9"/>
          <p:cNvSpPr/>
          <p:nvPr/>
        </p:nvSpPr>
        <p:spPr>
          <a:xfrm>
            <a:off x="2423160" y="2606040"/>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0.185</a:t>
            </a:r>
            <a:endParaRPr lang="en-US" sz="1150" dirty="0"/>
          </a:p>
        </p:txBody>
      </p:sp>
      <p:sp>
        <p:nvSpPr>
          <p:cNvPr id="12" name="Text 10"/>
          <p:cNvSpPr/>
          <p:nvPr/>
        </p:nvSpPr>
        <p:spPr>
          <a:xfrm>
            <a:off x="3291840" y="2606040"/>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linear decay to zero over 24h</a:t>
            </a:r>
            <a:endParaRPr lang="en-US" sz="1150" dirty="0"/>
          </a:p>
        </p:txBody>
      </p:sp>
      <p:sp>
        <p:nvSpPr>
          <p:cNvPr id="13" name="Shape 11"/>
          <p:cNvSpPr/>
          <p:nvPr/>
        </p:nvSpPr>
        <p:spPr>
          <a:xfrm>
            <a:off x="548640" y="3035808"/>
            <a:ext cx="6903720" cy="384048"/>
          </a:xfrm>
          <a:prstGeom prst="rect">
            <a:avLst/>
          </a:prstGeom>
          <a:solidFill>
            <a:srgbClr val="FFFFFF"/>
          </a:solidFill>
          <a:ln w="9525">
            <a:solidFill>
              <a:srgbClr val="D5DFE2"/>
            </a:solidFill>
            <a:prstDash val="solid"/>
          </a:ln>
        </p:spPr>
      </p:sp>
      <p:sp>
        <p:nvSpPr>
          <p:cNvPr id="14" name="Text 12"/>
          <p:cNvSpPr/>
          <p:nvPr/>
        </p:nvSpPr>
        <p:spPr>
          <a:xfrm>
            <a:off x="685800" y="3035808"/>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source_quality</a:t>
            </a:r>
            <a:endParaRPr lang="en-US" sz="1150" dirty="0"/>
          </a:p>
        </p:txBody>
      </p:sp>
      <p:sp>
        <p:nvSpPr>
          <p:cNvPr id="15" name="Text 13"/>
          <p:cNvSpPr/>
          <p:nvPr/>
        </p:nvSpPr>
        <p:spPr>
          <a:xfrm>
            <a:off x="2423160" y="3035808"/>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0.185</a:t>
            </a:r>
            <a:endParaRPr lang="en-US" sz="1150" dirty="0"/>
          </a:p>
        </p:txBody>
      </p:sp>
      <p:sp>
        <p:nvSpPr>
          <p:cNvPr id="16" name="Text 14"/>
          <p:cNvSpPr/>
          <p:nvPr/>
        </p:nvSpPr>
        <p:spPr>
          <a:xfrm>
            <a:off x="3291840" y="3035808"/>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FT / Bloomberg 1.00 → unrated 0.60</a:t>
            </a:r>
            <a:endParaRPr lang="en-US" sz="1150" dirty="0"/>
          </a:p>
        </p:txBody>
      </p:sp>
      <p:sp>
        <p:nvSpPr>
          <p:cNvPr id="17" name="Shape 15"/>
          <p:cNvSpPr/>
          <p:nvPr/>
        </p:nvSpPr>
        <p:spPr>
          <a:xfrm>
            <a:off x="548640" y="3465576"/>
            <a:ext cx="6903720" cy="384048"/>
          </a:xfrm>
          <a:prstGeom prst="rect">
            <a:avLst/>
          </a:prstGeom>
          <a:solidFill>
            <a:srgbClr val="F1F5F6"/>
          </a:solidFill>
          <a:ln w="9525">
            <a:solidFill>
              <a:srgbClr val="D5DFE2"/>
            </a:solidFill>
            <a:prstDash val="solid"/>
          </a:ln>
        </p:spPr>
      </p:sp>
      <p:sp>
        <p:nvSpPr>
          <p:cNvPr id="18" name="Text 16"/>
          <p:cNvSpPr/>
          <p:nvPr/>
        </p:nvSpPr>
        <p:spPr>
          <a:xfrm>
            <a:off x="685800" y="3465576"/>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topicality</a:t>
            </a:r>
            <a:endParaRPr lang="en-US" sz="1150" dirty="0"/>
          </a:p>
        </p:txBody>
      </p:sp>
      <p:sp>
        <p:nvSpPr>
          <p:cNvPr id="19" name="Text 17"/>
          <p:cNvSpPr/>
          <p:nvPr/>
        </p:nvSpPr>
        <p:spPr>
          <a:xfrm>
            <a:off x="2423160" y="3465576"/>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0.130</a:t>
            </a:r>
            <a:endParaRPr lang="en-US" sz="1150" dirty="0"/>
          </a:p>
        </p:txBody>
      </p:sp>
      <p:sp>
        <p:nvSpPr>
          <p:cNvPr id="20" name="Text 18"/>
          <p:cNvSpPr/>
          <p:nvPr/>
        </p:nvSpPr>
        <p:spPr>
          <a:xfrm>
            <a:off x="3291840" y="3465576"/>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feed tags; untagged scores neutral, not zero</a:t>
            </a:r>
            <a:endParaRPr lang="en-US" sz="1150" dirty="0"/>
          </a:p>
        </p:txBody>
      </p:sp>
      <p:sp>
        <p:nvSpPr>
          <p:cNvPr id="21" name="Shape 19"/>
          <p:cNvSpPr/>
          <p:nvPr/>
        </p:nvSpPr>
        <p:spPr>
          <a:xfrm>
            <a:off x="548640" y="3895344"/>
            <a:ext cx="6903720" cy="384048"/>
          </a:xfrm>
          <a:prstGeom prst="rect">
            <a:avLst/>
          </a:prstGeom>
          <a:solidFill>
            <a:srgbClr val="FFFFFF"/>
          </a:solidFill>
          <a:ln w="9525">
            <a:solidFill>
              <a:srgbClr val="D5DFE2"/>
            </a:solidFill>
            <a:prstDash val="solid"/>
          </a:ln>
        </p:spPr>
      </p:sp>
      <p:sp>
        <p:nvSpPr>
          <p:cNvPr id="22" name="Text 20"/>
          <p:cNvSpPr/>
          <p:nvPr/>
        </p:nvSpPr>
        <p:spPr>
          <a:xfrm>
            <a:off x="685800" y="3895344"/>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numeric</a:t>
            </a:r>
            <a:endParaRPr lang="en-US" sz="1150" dirty="0"/>
          </a:p>
        </p:txBody>
      </p:sp>
      <p:sp>
        <p:nvSpPr>
          <p:cNvPr id="23" name="Text 21"/>
          <p:cNvSpPr/>
          <p:nvPr/>
        </p:nvSpPr>
        <p:spPr>
          <a:xfrm>
            <a:off x="2423160" y="3895344"/>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0.100</a:t>
            </a:r>
            <a:endParaRPr lang="en-US" sz="1150" dirty="0"/>
          </a:p>
        </p:txBody>
      </p:sp>
      <p:sp>
        <p:nvSpPr>
          <p:cNvPr id="24" name="Text 22"/>
          <p:cNvSpPr/>
          <p:nvPr/>
        </p:nvSpPr>
        <p:spPr>
          <a:xfrm>
            <a:off x="3291840" y="3895344"/>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how many concrete figures the headline carries</a:t>
            </a:r>
            <a:endParaRPr lang="en-US" sz="1150" dirty="0"/>
          </a:p>
        </p:txBody>
      </p:sp>
      <p:sp>
        <p:nvSpPr>
          <p:cNvPr id="25" name="Shape 23"/>
          <p:cNvSpPr/>
          <p:nvPr/>
        </p:nvSpPr>
        <p:spPr>
          <a:xfrm>
            <a:off x="548640" y="4325112"/>
            <a:ext cx="6903720" cy="384048"/>
          </a:xfrm>
          <a:prstGeom prst="rect">
            <a:avLst/>
          </a:prstGeom>
          <a:solidFill>
            <a:srgbClr val="F1F5F6"/>
          </a:solidFill>
          <a:ln w="9525">
            <a:solidFill>
              <a:srgbClr val="D5DFE2"/>
            </a:solidFill>
            <a:prstDash val="solid"/>
          </a:ln>
        </p:spPr>
      </p:sp>
      <p:sp>
        <p:nvSpPr>
          <p:cNvPr id="26" name="Text 24"/>
          <p:cNvSpPr/>
          <p:nvPr/>
        </p:nvSpPr>
        <p:spPr>
          <a:xfrm>
            <a:off x="685800" y="4325112"/>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analysis</a:t>
            </a:r>
            <a:endParaRPr lang="en-US" sz="1150" dirty="0"/>
          </a:p>
        </p:txBody>
      </p:sp>
      <p:sp>
        <p:nvSpPr>
          <p:cNvPr id="27" name="Text 25"/>
          <p:cNvSpPr/>
          <p:nvPr/>
        </p:nvSpPr>
        <p:spPr>
          <a:xfrm>
            <a:off x="2423160" y="4325112"/>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0.100</a:t>
            </a:r>
            <a:endParaRPr lang="en-US" sz="1150" dirty="0"/>
          </a:p>
        </p:txBody>
      </p:sp>
      <p:sp>
        <p:nvSpPr>
          <p:cNvPr id="28" name="Text 26"/>
          <p:cNvSpPr/>
          <p:nvPr/>
        </p:nvSpPr>
        <p:spPr>
          <a:xfrm>
            <a:off x="3291840" y="4325112"/>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how much it reads as commentary, not report</a:t>
            </a:r>
            <a:endParaRPr lang="en-US" sz="1150" dirty="0"/>
          </a:p>
        </p:txBody>
      </p:sp>
      <p:sp>
        <p:nvSpPr>
          <p:cNvPr id="29" name="Shape 27"/>
          <p:cNvSpPr/>
          <p:nvPr/>
        </p:nvSpPr>
        <p:spPr>
          <a:xfrm>
            <a:off x="548640" y="4754880"/>
            <a:ext cx="6903720" cy="384048"/>
          </a:xfrm>
          <a:prstGeom prst="rect">
            <a:avLst/>
          </a:prstGeom>
          <a:solidFill>
            <a:srgbClr val="FBEEDF"/>
          </a:solidFill>
          <a:ln w="9525">
            <a:solidFill>
              <a:srgbClr val="D5DFE2"/>
            </a:solidFill>
            <a:prstDash val="solid"/>
          </a:ln>
        </p:spPr>
      </p:sp>
      <p:sp>
        <p:nvSpPr>
          <p:cNvPr id="30" name="Text 28"/>
          <p:cNvSpPr/>
          <p:nvPr/>
        </p:nvSpPr>
        <p:spPr>
          <a:xfrm>
            <a:off x="685800" y="4754880"/>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source_count</a:t>
            </a:r>
            <a:endParaRPr lang="en-US" sz="1150" dirty="0"/>
          </a:p>
        </p:txBody>
      </p:sp>
      <p:sp>
        <p:nvSpPr>
          <p:cNvPr id="31" name="Text 29"/>
          <p:cNvSpPr/>
          <p:nvPr/>
        </p:nvSpPr>
        <p:spPr>
          <a:xfrm>
            <a:off x="2423160" y="4754880"/>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0.075</a:t>
            </a:r>
            <a:endParaRPr lang="en-US" sz="1150" dirty="0"/>
          </a:p>
        </p:txBody>
      </p:sp>
      <p:sp>
        <p:nvSpPr>
          <p:cNvPr id="32" name="Text 30"/>
          <p:cNvSpPr/>
          <p:nvPr/>
        </p:nvSpPr>
        <p:spPr>
          <a:xfrm>
            <a:off x="3291840" y="4754880"/>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corroboration across outlets</a:t>
            </a:r>
            <a:endParaRPr lang="en-US" sz="1150" dirty="0"/>
          </a:p>
        </p:txBody>
      </p:sp>
      <p:sp>
        <p:nvSpPr>
          <p:cNvPr id="33" name="Shape 31"/>
          <p:cNvSpPr/>
          <p:nvPr/>
        </p:nvSpPr>
        <p:spPr>
          <a:xfrm>
            <a:off x="548640" y="5184648"/>
            <a:ext cx="6903720" cy="384048"/>
          </a:xfrm>
          <a:prstGeom prst="rect">
            <a:avLst/>
          </a:prstGeom>
          <a:solidFill>
            <a:srgbClr val="F1F5F6"/>
          </a:solidFill>
          <a:ln w="9525">
            <a:solidFill>
              <a:srgbClr val="D5DFE2"/>
            </a:solidFill>
            <a:prstDash val="solid"/>
          </a:ln>
        </p:spPr>
      </p:sp>
      <p:sp>
        <p:nvSpPr>
          <p:cNvPr id="34" name="Text 32"/>
          <p:cNvSpPr/>
          <p:nvPr/>
        </p:nvSpPr>
        <p:spPr>
          <a:xfrm>
            <a:off x="685800" y="5184648"/>
            <a:ext cx="1783080" cy="384048"/>
          </a:xfrm>
          <a:prstGeom prst="rect">
            <a:avLst/>
          </a:prstGeom>
          <a:noFill/>
          <a:ln/>
        </p:spPr>
        <p:txBody>
          <a:bodyPr wrap="square" lIns="0" tIns="0" rIns="0" bIns="0" rtlCol="0" anchor="ctr"/>
          <a:lstStyle/>
          <a:p>
            <a:pPr indent="0" marL="0">
              <a:buNone/>
            </a:pPr>
            <a:r>
              <a:rPr lang="en-US" sz="1150" b="1" dirty="0">
                <a:solidFill>
                  <a:srgbClr val="0E2A31"/>
                </a:solidFill>
                <a:latin typeface="Courier New" pitchFamily="34" charset="0"/>
                <a:ea typeface="Courier New" pitchFamily="34" charset="-122"/>
                <a:cs typeface="Courier New" pitchFamily="34" charset="-120"/>
              </a:rPr>
              <a:t>asset</a:t>
            </a:r>
            <a:endParaRPr lang="en-US" sz="1150" dirty="0"/>
          </a:p>
        </p:txBody>
      </p:sp>
      <p:sp>
        <p:nvSpPr>
          <p:cNvPr id="35" name="Text 33"/>
          <p:cNvSpPr/>
          <p:nvPr/>
        </p:nvSpPr>
        <p:spPr>
          <a:xfrm>
            <a:off x="2423160" y="5184648"/>
            <a:ext cx="685800" cy="384048"/>
          </a:xfrm>
          <a:prstGeom prst="rect">
            <a:avLst/>
          </a:prstGeom>
          <a:noFill/>
          <a:ln/>
        </p:spPr>
        <p:txBody>
          <a:bodyPr wrap="square" lIns="0" tIns="0" rIns="0" bIns="0" rtlCol="0" anchor="ctr"/>
          <a:lstStyle/>
          <a:p>
            <a:pPr algn="r" indent="0" marL="0">
              <a:buNone/>
            </a:pPr>
            <a:r>
              <a:rPr lang="en-US" sz="1150" b="1" dirty="0">
                <a:solidFill>
                  <a:srgbClr val="C2610F"/>
                </a:solidFill>
                <a:latin typeface="Courier New" pitchFamily="34" charset="0"/>
                <a:ea typeface="Courier New" pitchFamily="34" charset="-122"/>
                <a:cs typeface="Courier New" pitchFamily="34" charset="-120"/>
              </a:rPr>
              <a:t>0.040</a:t>
            </a:r>
            <a:endParaRPr lang="en-US" sz="1150" dirty="0"/>
          </a:p>
        </p:txBody>
      </p:sp>
      <p:sp>
        <p:nvSpPr>
          <p:cNvPr id="36" name="Text 34"/>
          <p:cNvSpPr/>
          <p:nvPr/>
        </p:nvSpPr>
        <p:spPr>
          <a:xfrm>
            <a:off x="3291840" y="5184648"/>
            <a:ext cx="4069080" cy="384048"/>
          </a:xfrm>
          <a:prstGeom prst="rect">
            <a:avLst/>
          </a:prstGeom>
          <a:noFill/>
          <a:ln/>
        </p:spPr>
        <p:txBody>
          <a:bodyPr wrap="square" lIns="0" tIns="0" rIns="0" bIns="0" rtlCol="0" anchor="ctr"/>
          <a:lstStyle/>
          <a:p>
            <a:pPr indent="0" marL="0">
              <a:buNone/>
            </a:pPr>
            <a:r>
              <a:rPr lang="en-US" sz="1150" dirty="0">
                <a:solidFill>
                  <a:srgbClr val="5E7078"/>
                </a:solidFill>
                <a:latin typeface="Calibri" pitchFamily="34" charset="0"/>
                <a:ea typeface="Calibri" pitchFamily="34" charset="-122"/>
                <a:cs typeface="Calibri" pitchFamily="34" charset="-120"/>
              </a:rPr>
              <a:t>BTC/ETH 1.0, large alts 0.7, memecoins 0.3</a:t>
            </a:r>
            <a:endParaRPr lang="en-US" sz="1150" dirty="0"/>
          </a:p>
        </p:txBody>
      </p:sp>
      <p:sp>
        <p:nvSpPr>
          <p:cNvPr id="37" name="Shape 35"/>
          <p:cNvSpPr/>
          <p:nvPr/>
        </p:nvSpPr>
        <p:spPr>
          <a:xfrm>
            <a:off x="7726680" y="2176272"/>
            <a:ext cx="3886200" cy="2962656"/>
          </a:xfrm>
          <a:prstGeom prst="roundRect">
            <a:avLst>
              <a:gd name="adj" fmla="val 2469"/>
            </a:avLst>
          </a:prstGeom>
          <a:solidFill>
            <a:srgbClr val="0E2A31"/>
          </a:solidFill>
          <a:ln w="12700">
            <a:solidFill>
              <a:srgbClr val="0E2A31"/>
            </a:solidFill>
            <a:prstDash val="solid"/>
          </a:ln>
        </p:spPr>
      </p:sp>
      <p:sp>
        <p:nvSpPr>
          <p:cNvPr id="38" name="Text 36"/>
          <p:cNvSpPr/>
          <p:nvPr/>
        </p:nvSpPr>
        <p:spPr>
          <a:xfrm>
            <a:off x="8001000" y="2395728"/>
            <a:ext cx="3383280" cy="292608"/>
          </a:xfrm>
          <a:prstGeom prst="rect">
            <a:avLst/>
          </a:prstGeom>
          <a:noFill/>
          <a:ln/>
        </p:spPr>
        <p:txBody>
          <a:bodyPr wrap="square" lIns="0" tIns="0" rIns="0" bIns="0" rtlCol="0" anchor="ctr"/>
          <a:lstStyle/>
          <a:p>
            <a:pPr indent="0" marL="0">
              <a:buNone/>
            </a:pPr>
            <a:r>
              <a:rPr lang="en-US" sz="1050" b="1" spc="140" kern="0" dirty="0">
                <a:solidFill>
                  <a:srgbClr val="E8963C"/>
                </a:solidFill>
                <a:latin typeface="Courier New" pitchFamily="34" charset="0"/>
                <a:ea typeface="Courier New" pitchFamily="34" charset="-122"/>
                <a:cs typeface="Courier New" pitchFamily="34" charset="-120"/>
              </a:rPr>
              <a:t>The counter-intuitive one</a:t>
            </a:r>
            <a:endParaRPr lang="en-US" sz="1050" dirty="0"/>
          </a:p>
        </p:txBody>
      </p:sp>
      <p:sp>
        <p:nvSpPr>
          <p:cNvPr id="39" name="Text 37"/>
          <p:cNvSpPr/>
          <p:nvPr/>
        </p:nvSpPr>
        <p:spPr>
          <a:xfrm>
            <a:off x="8001000" y="2743200"/>
            <a:ext cx="338328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source_count is only 0.075</a:t>
            </a:r>
            <a:endParaRPr lang="en-US" sz="1700" dirty="0"/>
          </a:p>
        </p:txBody>
      </p:sp>
      <p:sp>
        <p:nvSpPr>
          <p:cNvPr id="40" name="Text 38"/>
          <p:cNvSpPr/>
          <p:nvPr/>
        </p:nvSpPr>
        <p:spPr>
          <a:xfrm>
            <a:off x="8001000" y="3246120"/>
            <a:ext cx="3383280" cy="1737360"/>
          </a:xfrm>
          <a:prstGeom prst="rect">
            <a:avLst/>
          </a:prstGeom>
          <a:noFill/>
          <a:ln/>
        </p:spPr>
        <p:txBody>
          <a:bodyPr wrap="square" lIns="0" tIns="0" rIns="0" bIns="0" rtlCol="0" anchor="ctr"/>
          <a:lstStyle/>
          <a:p>
            <a:pPr indent="0" marL="0">
              <a:lnSpc>
                <a:spcPts val="1700"/>
              </a:lnSpc>
              <a:buNone/>
            </a:pPr>
            <a:r>
              <a:rPr lang="en-US" sz="1200" dirty="0">
                <a:solidFill>
                  <a:srgbClr val="A8C0C6"/>
                </a:solidFill>
                <a:latin typeface="Calibri" pitchFamily="34" charset="0"/>
                <a:ea typeface="Calibri" pitchFamily="34" charset="-122"/>
                <a:cs typeface="Calibri" pitchFamily="34" charset="-120"/>
              </a:rPr>
              <a:t>Corroboration is real evidence, so it earns a place. But weight it heavily and one big story wins every slot for three days running, because every outlet keeps re-reporting it.</a:t>
            </a:r>
            <a:endParaRPr lang="en-US" sz="1200" dirty="0"/>
          </a:p>
          <a:p>
            <a:pPr indent="0" marL="0">
              <a:lnSpc>
                <a:spcPts val="1700"/>
              </a:lnSpc>
              <a:buNone/>
            </a:pPr>
            <a:endParaRPr lang="en-US" sz="1200" dirty="0"/>
          </a:p>
          <a:p>
            <a:pPr indent="0" marL="0">
              <a:lnSpc>
                <a:spcPts val="1700"/>
              </a:lnSpc>
              <a:buNone/>
            </a:pPr>
            <a:r>
              <a:rPr lang="en-US" sz="1200" dirty="0">
                <a:solidFill>
                  <a:srgbClr val="A8C0C6"/>
                </a:solidFill>
                <a:latin typeface="Calibri" pitchFamily="34" charset="0"/>
                <a:ea typeface="Calibri" pitchFamily="34" charset="-122"/>
                <a:cs typeface="Calibri" pitchFamily="34" charset="-120"/>
              </a:rPr>
              <a:t>Capping it at 7.5% buys the signal without letting yesterday squat on today.</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TRANSPARENCY</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Ask it why, and it shows the arithmetic</a:t>
            </a:r>
            <a:endParaRPr lang="en-US" sz="3400" dirty="0"/>
          </a:p>
        </p:txBody>
      </p:sp>
      <p:sp>
        <p:nvSpPr>
          <p:cNvPr id="4" name="Shape 2"/>
          <p:cNvSpPr/>
          <p:nvPr/>
        </p:nvSpPr>
        <p:spPr>
          <a:xfrm>
            <a:off x="548640" y="1737360"/>
            <a:ext cx="5943600" cy="3794760"/>
          </a:xfrm>
          <a:prstGeom prst="roundRect">
            <a:avLst>
              <a:gd name="adj" fmla="val 1446"/>
            </a:avLst>
          </a:prstGeom>
          <a:solidFill>
            <a:srgbClr val="F1F5F6"/>
          </a:solidFill>
          <a:ln w="22225">
            <a:solidFill>
              <a:srgbClr val="B9C6CA"/>
            </a:solidFill>
            <a:prstDash val="dash"/>
          </a:ln>
        </p:spPr>
      </p:sp>
      <p:sp>
        <p:nvSpPr>
          <p:cNvPr id="5" name="Text 3"/>
          <p:cNvSpPr/>
          <p:nvPr/>
        </p:nvSpPr>
        <p:spPr>
          <a:xfrm>
            <a:off x="822960" y="3159252"/>
            <a:ext cx="5394960" cy="384048"/>
          </a:xfrm>
          <a:prstGeom prst="rect">
            <a:avLst/>
          </a:prstGeom>
          <a:noFill/>
          <a:ln/>
        </p:spPr>
        <p:txBody>
          <a:bodyPr wrap="square" lIns="0" tIns="0" rIns="0" bIns="0" rtlCol="0" anchor="ctr"/>
          <a:lstStyle/>
          <a:p>
            <a:pPr algn="ctr" indent="0" marL="0">
              <a:buNone/>
            </a:pPr>
            <a:r>
              <a:rPr lang="en-US" sz="1700" b="1" dirty="0">
                <a:solidFill>
                  <a:srgbClr val="0E5B69"/>
                </a:solidFill>
                <a:latin typeface="Calibri" pitchFamily="34" charset="0"/>
                <a:ea typeface="Calibri" pitchFamily="34" charset="-122"/>
                <a:cs typeface="Calibri" pitchFamily="34" charset="-120"/>
              </a:rPr>
              <a:t>📷  Telegram — /why 1</a:t>
            </a:r>
            <a:endParaRPr lang="en-US" sz="1700" dirty="0"/>
          </a:p>
        </p:txBody>
      </p:sp>
      <p:sp>
        <p:nvSpPr>
          <p:cNvPr id="6" name="Text 4"/>
          <p:cNvSpPr/>
          <p:nvPr/>
        </p:nvSpPr>
        <p:spPr>
          <a:xfrm>
            <a:off x="868680" y="3579876"/>
            <a:ext cx="5303520" cy="658368"/>
          </a:xfrm>
          <a:prstGeom prst="rect">
            <a:avLst/>
          </a:prstGeom>
          <a:noFill/>
          <a:ln/>
        </p:spPr>
        <p:txBody>
          <a:bodyPr wrap="square" lIns="0" tIns="0" rIns="0" bIns="0" rtlCol="0" anchor="ctr"/>
          <a:lstStyle/>
          <a:p>
            <a:pPr algn="ctr" indent="0" marL="0">
              <a:buNone/>
            </a:pPr>
            <a:r>
              <a:rPr lang="en-US" sz="1150" dirty="0">
                <a:solidFill>
                  <a:srgbClr val="5E7078"/>
                </a:solidFill>
                <a:latin typeface="Courier New" pitchFamily="34" charset="0"/>
                <a:ea typeface="Courier New" pitchFamily="34" charset="-122"/>
                <a:cs typeface="Courier New" pitchFamily="34" charset="-120"/>
              </a:rPr>
              <a:t>Screenshot the factor breakdown table:</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factor / raw / weight / contribution,</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plus “What drove it” underneath.</a:t>
            </a:r>
            <a:endParaRPr lang="en-US" sz="1150" dirty="0"/>
          </a:p>
        </p:txBody>
      </p:sp>
      <p:sp>
        <p:nvSpPr>
          <p:cNvPr id="7" name="Text 5"/>
          <p:cNvSpPr/>
          <p:nvPr/>
        </p:nvSpPr>
        <p:spPr>
          <a:xfrm>
            <a:off x="6858000" y="1828800"/>
            <a:ext cx="4754880" cy="329184"/>
          </a:xfrm>
          <a:prstGeom prst="rect">
            <a:avLst/>
          </a:prstGeom>
          <a:noFill/>
          <a:ln/>
        </p:spPr>
        <p:txBody>
          <a:bodyPr wrap="square" lIns="0" tIns="0" rIns="0" bIns="0" rtlCol="0" anchor="ctr"/>
          <a:lstStyle/>
          <a:p>
            <a:pPr indent="0" marL="0">
              <a:buNone/>
            </a:pPr>
            <a:r>
              <a:rPr lang="en-US" sz="1700" b="1" dirty="0">
                <a:solidFill>
                  <a:srgbClr val="0E2A31"/>
                </a:solidFill>
                <a:latin typeface="Calibri" pitchFamily="34" charset="0"/>
                <a:ea typeface="Calibri" pitchFamily="34" charset="-122"/>
                <a:cs typeface="Calibri" pitchFamily="34" charset="-120"/>
              </a:rPr>
              <a:t>Not the model explaining itself</a:t>
            </a:r>
            <a:endParaRPr lang="en-US" sz="1700" dirty="0"/>
          </a:p>
        </p:txBody>
      </p:sp>
      <p:sp>
        <p:nvSpPr>
          <p:cNvPr id="8" name="Text 6"/>
          <p:cNvSpPr/>
          <p:nvPr/>
        </p:nvSpPr>
        <p:spPr>
          <a:xfrm>
            <a:off x="6858000" y="2267712"/>
            <a:ext cx="4754880" cy="1371600"/>
          </a:xfrm>
          <a:prstGeom prst="rect">
            <a:avLst/>
          </a:prstGeom>
          <a:noFill/>
          <a:ln/>
        </p:spPr>
        <p:txBody>
          <a:bodyPr wrap="square" lIns="0" tIns="0" rIns="0" bIns="0" rtlCol="0" anchor="ctr"/>
          <a:lstStyle/>
          <a:p>
            <a:pPr indent="0" marL="0">
              <a:lnSpc>
                <a:spcPts val="1900"/>
              </a:lnSpc>
              <a:buNone/>
            </a:pPr>
            <a:r>
              <a:rPr lang="en-US" sz="1350" dirty="0">
                <a:solidFill>
                  <a:srgbClr val="5E7078"/>
                </a:solidFill>
                <a:latin typeface="Calibri" pitchFamily="34" charset="0"/>
                <a:ea typeface="Calibri" pitchFamily="34" charset="-122"/>
                <a:cs typeface="Calibri" pitchFamily="34" charset="-120"/>
              </a:rPr>
              <a:t>Asking a language model why it chose something gets you a plausible story, not the actual cause.</a:t>
            </a:r>
            <a:endParaRPr lang="en-US" sz="1350" dirty="0"/>
          </a:p>
          <a:p>
            <a:pPr indent="0" marL="0">
              <a:lnSpc>
                <a:spcPts val="1900"/>
              </a:lnSpc>
              <a:buNone/>
            </a:pPr>
            <a:endParaRPr lang="en-US" sz="1350" dirty="0"/>
          </a:p>
          <a:p>
            <a:pPr indent="0" marL="0">
              <a:lnSpc>
                <a:spcPts val="1900"/>
              </a:lnSpc>
              <a:buNone/>
            </a:pPr>
            <a:r>
              <a:rPr lang="en-US" sz="1350" dirty="0">
                <a:solidFill>
                  <a:srgbClr val="5E7078"/>
                </a:solidFill>
                <a:latin typeface="Calibri" pitchFamily="34" charset="0"/>
                <a:ea typeface="Calibri" pitchFamily="34" charset="-122"/>
                <a:cs typeface="Calibri" pitchFamily="34" charset="-120"/>
              </a:rPr>
              <a:t>This is the real arithmetic: every factor, its raw verdict, its weight, and what it contributed.</a:t>
            </a:r>
            <a:endParaRPr lang="en-US" sz="1350" dirty="0"/>
          </a:p>
        </p:txBody>
      </p:sp>
      <p:sp>
        <p:nvSpPr>
          <p:cNvPr id="9" name="Shape 7"/>
          <p:cNvSpPr/>
          <p:nvPr/>
        </p:nvSpPr>
        <p:spPr>
          <a:xfrm>
            <a:off x="6858000" y="3767328"/>
            <a:ext cx="749808" cy="384048"/>
          </a:xfrm>
          <a:prstGeom prst="roundRect">
            <a:avLst>
              <a:gd name="adj" fmla="val 19048"/>
            </a:avLst>
          </a:prstGeom>
          <a:solidFill>
            <a:srgbClr val="F1F5F6"/>
          </a:solidFill>
          <a:ln w="12700">
            <a:solidFill>
              <a:srgbClr val="D5DFE2"/>
            </a:solidFill>
            <a:prstDash val="solid"/>
          </a:ln>
        </p:spPr>
      </p:sp>
      <p:sp>
        <p:nvSpPr>
          <p:cNvPr id="10" name="Text 8"/>
          <p:cNvSpPr/>
          <p:nvPr/>
        </p:nvSpPr>
        <p:spPr>
          <a:xfrm>
            <a:off x="6858000" y="3767328"/>
            <a:ext cx="749808" cy="384048"/>
          </a:xfrm>
          <a:prstGeom prst="rect">
            <a:avLst/>
          </a:prstGeom>
          <a:noFill/>
          <a:ln/>
        </p:spPr>
        <p:txBody>
          <a:bodyPr wrap="square" lIns="0" tIns="0" rIns="0" bIns="0" rtlCol="0" anchor="ctr"/>
          <a:lstStyle/>
          <a:p>
            <a:pPr algn="ctr" indent="0" marL="0">
              <a:buNone/>
            </a:pPr>
            <a:r>
              <a:rPr lang="en-US" sz="1300" b="1" dirty="0">
                <a:solidFill>
                  <a:srgbClr val="C2610F"/>
                </a:solidFill>
                <a:latin typeface="Courier New" pitchFamily="34" charset="0"/>
                <a:ea typeface="Courier New" pitchFamily="34" charset="-122"/>
                <a:cs typeface="Courier New" pitchFamily="34" charset="-120"/>
              </a:rPr>
              <a:t>1.00</a:t>
            </a:r>
            <a:endParaRPr lang="en-US" sz="1300" dirty="0"/>
          </a:p>
        </p:txBody>
      </p:sp>
      <p:sp>
        <p:nvSpPr>
          <p:cNvPr id="11" name="Text 9"/>
          <p:cNvSpPr/>
          <p:nvPr/>
        </p:nvSpPr>
        <p:spPr>
          <a:xfrm>
            <a:off x="7772400" y="3767328"/>
            <a:ext cx="3840480" cy="384048"/>
          </a:xfrm>
          <a:prstGeom prst="rect">
            <a:avLst/>
          </a:prstGeom>
          <a:noFill/>
          <a:ln/>
        </p:spPr>
        <p:txBody>
          <a:bodyPr wrap="square" lIns="0" tIns="0" rIns="0" bIns="0" rtlCol="0" anchor="ctr"/>
          <a:lstStyle/>
          <a:p>
            <a:pPr indent="0" marL="0">
              <a:buNone/>
            </a:pPr>
            <a:r>
              <a:rPr lang="en-US" sz="1200" dirty="0">
                <a:solidFill>
                  <a:srgbClr val="24343B"/>
                </a:solidFill>
                <a:latin typeface="Courier New" pitchFamily="34" charset="0"/>
                <a:ea typeface="Courier New" pitchFamily="34" charset="-122"/>
                <a:cs typeface="Courier New" pitchFamily="34" charset="-120"/>
              </a:rPr>
              <a:t>×  0.185  keyword</a:t>
            </a:r>
            <a:endParaRPr lang="en-US" sz="1200" dirty="0"/>
          </a:p>
        </p:txBody>
      </p:sp>
      <p:sp>
        <p:nvSpPr>
          <p:cNvPr id="12" name="Shape 10"/>
          <p:cNvSpPr/>
          <p:nvPr/>
        </p:nvSpPr>
        <p:spPr>
          <a:xfrm>
            <a:off x="6858000" y="4261104"/>
            <a:ext cx="749808" cy="384048"/>
          </a:xfrm>
          <a:prstGeom prst="roundRect">
            <a:avLst>
              <a:gd name="adj" fmla="val 19048"/>
            </a:avLst>
          </a:prstGeom>
          <a:solidFill>
            <a:srgbClr val="F1F5F6"/>
          </a:solidFill>
          <a:ln w="12700">
            <a:solidFill>
              <a:srgbClr val="D5DFE2"/>
            </a:solidFill>
            <a:prstDash val="solid"/>
          </a:ln>
        </p:spPr>
      </p:sp>
      <p:sp>
        <p:nvSpPr>
          <p:cNvPr id="13" name="Text 11"/>
          <p:cNvSpPr/>
          <p:nvPr/>
        </p:nvSpPr>
        <p:spPr>
          <a:xfrm>
            <a:off x="6858000" y="4261104"/>
            <a:ext cx="749808" cy="384048"/>
          </a:xfrm>
          <a:prstGeom prst="rect">
            <a:avLst/>
          </a:prstGeom>
          <a:noFill/>
          <a:ln/>
        </p:spPr>
        <p:txBody>
          <a:bodyPr wrap="square" lIns="0" tIns="0" rIns="0" bIns="0" rtlCol="0" anchor="ctr"/>
          <a:lstStyle/>
          <a:p>
            <a:pPr algn="ctr" indent="0" marL="0">
              <a:buNone/>
            </a:pPr>
            <a:r>
              <a:rPr lang="en-US" sz="1300" b="1" dirty="0">
                <a:solidFill>
                  <a:srgbClr val="C2610F"/>
                </a:solidFill>
                <a:latin typeface="Courier New" pitchFamily="34" charset="0"/>
                <a:ea typeface="Courier New" pitchFamily="34" charset="-122"/>
                <a:cs typeface="Courier New" pitchFamily="34" charset="-120"/>
              </a:rPr>
              <a:t>0.94</a:t>
            </a:r>
            <a:endParaRPr lang="en-US" sz="1300" dirty="0"/>
          </a:p>
        </p:txBody>
      </p:sp>
      <p:sp>
        <p:nvSpPr>
          <p:cNvPr id="14" name="Text 12"/>
          <p:cNvSpPr/>
          <p:nvPr/>
        </p:nvSpPr>
        <p:spPr>
          <a:xfrm>
            <a:off x="7772400" y="4261104"/>
            <a:ext cx="3840480" cy="384048"/>
          </a:xfrm>
          <a:prstGeom prst="rect">
            <a:avLst/>
          </a:prstGeom>
          <a:noFill/>
          <a:ln/>
        </p:spPr>
        <p:txBody>
          <a:bodyPr wrap="square" lIns="0" tIns="0" rIns="0" bIns="0" rtlCol="0" anchor="ctr"/>
          <a:lstStyle/>
          <a:p>
            <a:pPr indent="0" marL="0">
              <a:buNone/>
            </a:pPr>
            <a:r>
              <a:rPr lang="en-US" sz="1200" dirty="0">
                <a:solidFill>
                  <a:srgbClr val="24343B"/>
                </a:solidFill>
                <a:latin typeface="Courier New" pitchFamily="34" charset="0"/>
                <a:ea typeface="Courier New" pitchFamily="34" charset="-122"/>
                <a:cs typeface="Courier New" pitchFamily="34" charset="-120"/>
              </a:rPr>
              <a:t>×  0.185  recency</a:t>
            </a:r>
            <a:endParaRPr lang="en-US" sz="1200" dirty="0"/>
          </a:p>
        </p:txBody>
      </p:sp>
      <p:sp>
        <p:nvSpPr>
          <p:cNvPr id="15" name="Shape 13"/>
          <p:cNvSpPr/>
          <p:nvPr/>
        </p:nvSpPr>
        <p:spPr>
          <a:xfrm>
            <a:off x="6858000" y="4754880"/>
            <a:ext cx="749808" cy="384048"/>
          </a:xfrm>
          <a:prstGeom prst="roundRect">
            <a:avLst>
              <a:gd name="adj" fmla="val 19048"/>
            </a:avLst>
          </a:prstGeom>
          <a:solidFill>
            <a:srgbClr val="0E2A31"/>
          </a:solidFill>
          <a:ln w="12700">
            <a:solidFill>
              <a:srgbClr val="0E2A31"/>
            </a:solidFill>
            <a:prstDash val="solid"/>
          </a:ln>
        </p:spPr>
      </p:sp>
      <p:sp>
        <p:nvSpPr>
          <p:cNvPr id="16" name="Text 14"/>
          <p:cNvSpPr/>
          <p:nvPr/>
        </p:nvSpPr>
        <p:spPr>
          <a:xfrm>
            <a:off x="6858000" y="4754880"/>
            <a:ext cx="749808" cy="384048"/>
          </a:xfrm>
          <a:prstGeom prst="rect">
            <a:avLst/>
          </a:prstGeom>
          <a:noFill/>
          <a:ln/>
        </p:spPr>
        <p:txBody>
          <a:bodyPr wrap="square" lIns="0" tIns="0" rIns="0" bIns="0" rtlCol="0" anchor="ctr"/>
          <a:lstStyle/>
          <a:p>
            <a:pPr algn="ctr" indent="0" marL="0">
              <a:buNone/>
            </a:pPr>
            <a:r>
              <a:rPr lang="en-US" sz="1200" b="1" dirty="0">
                <a:solidFill>
                  <a:srgbClr val="E8963C"/>
                </a:solidFill>
                <a:latin typeface="Courier New" pitchFamily="34" charset="0"/>
                <a:ea typeface="Courier New" pitchFamily="34" charset="-122"/>
                <a:cs typeface="Courier New" pitchFamily="34" charset="-120"/>
              </a:rPr>
              <a:t>0.734</a:t>
            </a:r>
            <a:endParaRPr lang="en-US" sz="1200" dirty="0"/>
          </a:p>
        </p:txBody>
      </p:sp>
      <p:sp>
        <p:nvSpPr>
          <p:cNvPr id="17" name="Text 15"/>
          <p:cNvSpPr/>
          <p:nvPr/>
        </p:nvSpPr>
        <p:spPr>
          <a:xfrm>
            <a:off x="7772400" y="4754880"/>
            <a:ext cx="3840480" cy="384048"/>
          </a:xfrm>
          <a:prstGeom prst="rect">
            <a:avLst/>
          </a:prstGeom>
          <a:noFill/>
          <a:ln/>
        </p:spPr>
        <p:txBody>
          <a:bodyPr wrap="square" lIns="0" tIns="0" rIns="0" bIns="0" rtlCol="0" anchor="ctr"/>
          <a:lstStyle/>
          <a:p>
            <a:pPr indent="0" marL="0">
              <a:buNone/>
            </a:pPr>
            <a:r>
              <a:rPr lang="en-US" sz="1200" b="1" dirty="0">
                <a:solidFill>
                  <a:srgbClr val="0E2A31"/>
                </a:solidFill>
                <a:latin typeface="Courier New" pitchFamily="34" charset="0"/>
                <a:ea typeface="Courier New" pitchFamily="34" charset="-122"/>
                <a:cs typeface="Courier New" pitchFamily="34" charset="-120"/>
              </a:rPr>
              <a:t>=  total, and it adds up</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CONTROL</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The reader owns two of the weights</a:t>
            </a:r>
            <a:endParaRPr lang="en-US" sz="3400" dirty="0"/>
          </a:p>
        </p:txBody>
      </p:sp>
      <p:sp>
        <p:nvSpPr>
          <p:cNvPr id="4" name="Shape 2"/>
          <p:cNvSpPr/>
          <p:nvPr/>
        </p:nvSpPr>
        <p:spPr>
          <a:xfrm>
            <a:off x="548640" y="1737360"/>
            <a:ext cx="5394960" cy="3794760"/>
          </a:xfrm>
          <a:prstGeom prst="roundRect">
            <a:avLst>
              <a:gd name="adj" fmla="val 1446"/>
            </a:avLst>
          </a:prstGeom>
          <a:solidFill>
            <a:srgbClr val="F1F5F6"/>
          </a:solidFill>
          <a:ln w="22225">
            <a:solidFill>
              <a:srgbClr val="B9C6CA"/>
            </a:solidFill>
            <a:prstDash val="dash"/>
          </a:ln>
        </p:spPr>
      </p:sp>
      <p:sp>
        <p:nvSpPr>
          <p:cNvPr id="5" name="Text 3"/>
          <p:cNvSpPr/>
          <p:nvPr/>
        </p:nvSpPr>
        <p:spPr>
          <a:xfrm>
            <a:off x="822960" y="3159252"/>
            <a:ext cx="4846320" cy="384048"/>
          </a:xfrm>
          <a:prstGeom prst="rect">
            <a:avLst/>
          </a:prstGeom>
          <a:noFill/>
          <a:ln/>
        </p:spPr>
        <p:txBody>
          <a:bodyPr wrap="square" lIns="0" tIns="0" rIns="0" bIns="0" rtlCol="0" anchor="ctr"/>
          <a:lstStyle/>
          <a:p>
            <a:pPr algn="ctr" indent="0" marL="0">
              <a:buNone/>
            </a:pPr>
            <a:r>
              <a:rPr lang="en-US" sz="1700" b="1" dirty="0">
                <a:solidFill>
                  <a:srgbClr val="0E5B69"/>
                </a:solidFill>
                <a:latin typeface="Calibri" pitchFamily="34" charset="0"/>
                <a:ea typeface="Calibri" pitchFamily="34" charset="-122"/>
                <a:cs typeface="Calibri" pitchFamily="34" charset="-120"/>
              </a:rPr>
              <a:t>📷  Telegram — /weights</a:t>
            </a:r>
            <a:endParaRPr lang="en-US" sz="1700" dirty="0"/>
          </a:p>
        </p:txBody>
      </p:sp>
      <p:sp>
        <p:nvSpPr>
          <p:cNvPr id="6" name="Text 4"/>
          <p:cNvSpPr/>
          <p:nvPr/>
        </p:nvSpPr>
        <p:spPr>
          <a:xfrm>
            <a:off x="868680" y="3579876"/>
            <a:ext cx="4754880" cy="658368"/>
          </a:xfrm>
          <a:prstGeom prst="rect">
            <a:avLst/>
          </a:prstGeom>
          <a:noFill/>
          <a:ln/>
        </p:spPr>
        <p:txBody>
          <a:bodyPr wrap="square" lIns="0" tIns="0" rIns="0" bIns="0" rtlCol="0" anchor="ctr"/>
          <a:lstStyle/>
          <a:p>
            <a:pPr algn="ctr" indent="0" marL="0">
              <a:buNone/>
            </a:pPr>
            <a:r>
              <a:rPr lang="en-US" sz="1150" dirty="0">
                <a:solidFill>
                  <a:srgbClr val="5E7078"/>
                </a:solidFill>
                <a:latin typeface="Courier New" pitchFamily="34" charset="0"/>
                <a:ea typeface="Courier New" pitchFamily="34" charset="-122"/>
                <a:cs typeface="Courier New" pitchFamily="34" charset="-120"/>
              </a:rPr>
              <a:t>Screenshot the settings screen:</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the five category toggles, the depth</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buttons, and the weight table below.</a:t>
            </a:r>
            <a:endParaRPr lang="en-US" sz="1150" dirty="0"/>
          </a:p>
        </p:txBody>
      </p:sp>
      <p:sp>
        <p:nvSpPr>
          <p:cNvPr id="7" name="Text 5"/>
          <p:cNvSpPr/>
          <p:nvPr/>
        </p:nvSpPr>
        <p:spPr>
          <a:xfrm>
            <a:off x="6355080" y="1783080"/>
            <a:ext cx="5212080" cy="310896"/>
          </a:xfrm>
          <a:prstGeom prst="rect">
            <a:avLst/>
          </a:prstGeom>
          <a:noFill/>
          <a:ln/>
        </p:spPr>
        <p:txBody>
          <a:bodyPr wrap="square" lIns="0" tIns="0" rIns="0" bIns="0" rtlCol="0" anchor="ctr"/>
          <a:lstStyle/>
          <a:p>
            <a:pPr indent="0" marL="0">
              <a:buNone/>
            </a:pPr>
            <a:r>
              <a:rPr lang="en-US" sz="1700" b="1" dirty="0">
                <a:solidFill>
                  <a:srgbClr val="0E2A31"/>
                </a:solidFill>
                <a:latin typeface="Cambria" pitchFamily="34" charset="0"/>
                <a:ea typeface="Cambria" pitchFamily="34" charset="-122"/>
                <a:cs typeface="Cambria" pitchFamily="34" charset="-120"/>
              </a:rPr>
              <a:t>Subjects</a:t>
            </a:r>
            <a:endParaRPr lang="en-US" sz="1700" dirty="0"/>
          </a:p>
        </p:txBody>
      </p:sp>
      <p:sp>
        <p:nvSpPr>
          <p:cNvPr id="8" name="Text 6"/>
          <p:cNvSpPr/>
          <p:nvPr/>
        </p:nvSpPr>
        <p:spPr>
          <a:xfrm>
            <a:off x="6355080" y="2157984"/>
            <a:ext cx="5212080" cy="960120"/>
          </a:xfrm>
          <a:prstGeom prst="rect">
            <a:avLst/>
          </a:prstGeom>
          <a:noFill/>
          <a:ln/>
        </p:spPr>
        <p:txBody>
          <a:bodyPr wrap="square" lIns="0" tIns="0" rIns="0" bIns="0" rtlCol="0" anchor="ctr"/>
          <a:lstStyle/>
          <a:p>
            <a:pPr indent="0" marL="0">
              <a:lnSpc>
                <a:spcPts val="1800"/>
              </a:lnSpc>
              <a:buNone/>
            </a:pPr>
            <a:r>
              <a:rPr lang="en-US" sz="1300" dirty="0">
                <a:solidFill>
                  <a:srgbClr val="5E7078"/>
                </a:solidFill>
                <a:latin typeface="Calibri" pitchFamily="34" charset="0"/>
                <a:ea typeface="Calibri" pitchFamily="34" charset="-122"/>
                <a:cs typeface="Calibri" pitchFamily="34" charset="-120"/>
              </a:rPr>
              <a:t>Five categories: security, regulation, institutional flows, macro, protocol. Switching one off is a hard filter — “only show me security” is not a request to rank macro slightly lower.</a:t>
            </a:r>
            <a:endParaRPr lang="en-US" sz="1300" dirty="0"/>
          </a:p>
        </p:txBody>
      </p:sp>
      <p:sp>
        <p:nvSpPr>
          <p:cNvPr id="9" name="Text 7"/>
          <p:cNvSpPr/>
          <p:nvPr/>
        </p:nvSpPr>
        <p:spPr>
          <a:xfrm>
            <a:off x="6355080" y="3246120"/>
            <a:ext cx="5212080" cy="310896"/>
          </a:xfrm>
          <a:prstGeom prst="rect">
            <a:avLst/>
          </a:prstGeom>
          <a:noFill/>
          <a:ln/>
        </p:spPr>
        <p:txBody>
          <a:bodyPr wrap="square" lIns="0" tIns="0" rIns="0" bIns="0" rtlCol="0" anchor="ctr"/>
          <a:lstStyle/>
          <a:p>
            <a:pPr indent="0" marL="0">
              <a:buNone/>
            </a:pPr>
            <a:r>
              <a:rPr lang="en-US" sz="1700" b="1" dirty="0">
                <a:solidFill>
                  <a:srgbClr val="0E2A31"/>
                </a:solidFill>
                <a:latin typeface="Cambria" pitchFamily="34" charset="0"/>
                <a:ea typeface="Cambria" pitchFamily="34" charset="-122"/>
                <a:cs typeface="Cambria" pitchFamily="34" charset="-120"/>
              </a:rPr>
              <a:t>Depth</a:t>
            </a:r>
            <a:endParaRPr lang="en-US" sz="1700" dirty="0"/>
          </a:p>
        </p:txBody>
      </p:sp>
      <p:sp>
        <p:nvSpPr>
          <p:cNvPr id="10" name="Text 8"/>
          <p:cNvSpPr/>
          <p:nvPr/>
        </p:nvSpPr>
        <p:spPr>
          <a:xfrm>
            <a:off x="6355080" y="3611880"/>
            <a:ext cx="5212080" cy="329184"/>
          </a:xfrm>
          <a:prstGeom prst="rect">
            <a:avLst/>
          </a:prstGeom>
          <a:noFill/>
          <a:ln/>
        </p:spPr>
        <p:txBody>
          <a:bodyPr wrap="square" lIns="0" tIns="0" rIns="0" bIns="0" rtlCol="0" anchor="ctr"/>
          <a:lstStyle/>
          <a:p>
            <a:pPr indent="0" marL="0">
              <a:buNone/>
            </a:pPr>
            <a:r>
              <a:rPr lang="en-US" sz="1300" dirty="0">
                <a:solidFill>
                  <a:srgbClr val="5E7078"/>
                </a:solidFill>
                <a:latin typeface="Calibri" pitchFamily="34" charset="0"/>
                <a:ea typeface="Calibri" pitchFamily="34" charset="-122"/>
                <a:cs typeface="Calibri" pitchFamily="34" charset="-120"/>
              </a:rPr>
              <a:t>Two factors share a 0.200 budget you split:</a:t>
            </a:r>
            <a:endParaRPr lang="en-US" sz="1300" dirty="0"/>
          </a:p>
        </p:txBody>
      </p:sp>
      <p:sp>
        <p:nvSpPr>
          <p:cNvPr id="11" name="Shape 9"/>
          <p:cNvSpPr/>
          <p:nvPr/>
        </p:nvSpPr>
        <p:spPr>
          <a:xfrm>
            <a:off x="6355080" y="4041648"/>
            <a:ext cx="5212080" cy="402336"/>
          </a:xfrm>
          <a:prstGeom prst="rect">
            <a:avLst/>
          </a:prstGeom>
          <a:solidFill>
            <a:srgbClr val="FFFFFF"/>
          </a:solidFill>
          <a:ln w="9525">
            <a:solidFill>
              <a:srgbClr val="D5DFE2"/>
            </a:solidFill>
            <a:prstDash val="solid"/>
          </a:ln>
        </p:spPr>
      </p:sp>
      <p:sp>
        <p:nvSpPr>
          <p:cNvPr id="12" name="Text 10"/>
          <p:cNvSpPr/>
          <p:nvPr/>
        </p:nvSpPr>
        <p:spPr>
          <a:xfrm>
            <a:off x="6510528" y="4041648"/>
            <a:ext cx="1463040" cy="402336"/>
          </a:xfrm>
          <a:prstGeom prst="rect">
            <a:avLst/>
          </a:prstGeom>
          <a:noFill/>
          <a:ln/>
        </p:spPr>
        <p:txBody>
          <a:bodyPr wrap="square" lIns="0" tIns="0" rIns="0" bIns="0" rtlCol="0" anchor="ctr"/>
          <a:lstStyle/>
          <a:p>
            <a:pPr indent="0" marL="0">
              <a:buNone/>
            </a:pPr>
            <a:r>
              <a:rPr lang="en-US" sz="1200" b="1" dirty="0">
                <a:solidFill>
                  <a:srgbClr val="0E5B69"/>
                </a:solidFill>
                <a:latin typeface="Courier New" pitchFamily="34" charset="0"/>
                <a:ea typeface="Courier New" pitchFamily="34" charset="-122"/>
                <a:cs typeface="Courier New" pitchFamily="34" charset="-120"/>
              </a:rPr>
              <a:t>Numbers</a:t>
            </a:r>
            <a:endParaRPr lang="en-US" sz="1200" dirty="0"/>
          </a:p>
        </p:txBody>
      </p:sp>
      <p:sp>
        <p:nvSpPr>
          <p:cNvPr id="13" name="Text 11"/>
          <p:cNvSpPr/>
          <p:nvPr/>
        </p:nvSpPr>
        <p:spPr>
          <a:xfrm>
            <a:off x="8001000" y="4041648"/>
            <a:ext cx="1691640" cy="402336"/>
          </a:xfrm>
          <a:prstGeom prst="rect">
            <a:avLst/>
          </a:prstGeom>
          <a:noFill/>
          <a:ln/>
        </p:spPr>
        <p:txBody>
          <a:bodyPr wrap="square" lIns="0" tIns="0" rIns="0" bIns="0" rtlCol="0" anchor="ctr"/>
          <a:lstStyle/>
          <a:p>
            <a:pPr indent="0" marL="0">
              <a:buNone/>
            </a:pPr>
            <a:r>
              <a:rPr lang="en-US" sz="1150" dirty="0">
                <a:solidFill>
                  <a:srgbClr val="C2610F"/>
                </a:solidFill>
                <a:latin typeface="Courier New" pitchFamily="34" charset="0"/>
                <a:ea typeface="Courier New" pitchFamily="34" charset="-122"/>
                <a:cs typeface="Courier New" pitchFamily="34" charset="-120"/>
              </a:rPr>
              <a:t>numeric 0.170</a:t>
            </a:r>
            <a:endParaRPr lang="en-US" sz="1150" dirty="0"/>
          </a:p>
        </p:txBody>
      </p:sp>
      <p:sp>
        <p:nvSpPr>
          <p:cNvPr id="14" name="Text 12"/>
          <p:cNvSpPr/>
          <p:nvPr/>
        </p:nvSpPr>
        <p:spPr>
          <a:xfrm>
            <a:off x="9738360" y="4041648"/>
            <a:ext cx="1737360" cy="402336"/>
          </a:xfrm>
          <a:prstGeom prst="rect">
            <a:avLst/>
          </a:prstGeom>
          <a:noFill/>
          <a:ln/>
        </p:spPr>
        <p:txBody>
          <a:bodyPr wrap="square" lIns="0" tIns="0" rIns="0" bIns="0" rtlCol="0" anchor="ctr"/>
          <a:lstStyle/>
          <a:p>
            <a:pPr indent="0" marL="0">
              <a:buNone/>
            </a:pPr>
            <a:r>
              <a:rPr lang="en-US" sz="1150" dirty="0">
                <a:solidFill>
                  <a:srgbClr val="C2610F"/>
                </a:solidFill>
                <a:latin typeface="Courier New" pitchFamily="34" charset="0"/>
                <a:ea typeface="Courier New" pitchFamily="34" charset="-122"/>
                <a:cs typeface="Courier New" pitchFamily="34" charset="-120"/>
              </a:rPr>
              <a:t>analysis 0.030</a:t>
            </a:r>
            <a:endParaRPr lang="en-US" sz="1150" dirty="0"/>
          </a:p>
        </p:txBody>
      </p:sp>
      <p:sp>
        <p:nvSpPr>
          <p:cNvPr id="15" name="Shape 13"/>
          <p:cNvSpPr/>
          <p:nvPr/>
        </p:nvSpPr>
        <p:spPr>
          <a:xfrm>
            <a:off x="6355080" y="4498848"/>
            <a:ext cx="5212080" cy="402336"/>
          </a:xfrm>
          <a:prstGeom prst="rect">
            <a:avLst/>
          </a:prstGeom>
          <a:solidFill>
            <a:srgbClr val="F1F5F6"/>
          </a:solidFill>
          <a:ln w="9525">
            <a:solidFill>
              <a:srgbClr val="D5DFE2"/>
            </a:solidFill>
            <a:prstDash val="solid"/>
          </a:ln>
        </p:spPr>
      </p:sp>
      <p:sp>
        <p:nvSpPr>
          <p:cNvPr id="16" name="Text 14"/>
          <p:cNvSpPr/>
          <p:nvPr/>
        </p:nvSpPr>
        <p:spPr>
          <a:xfrm>
            <a:off x="6510528" y="4498848"/>
            <a:ext cx="1463040" cy="402336"/>
          </a:xfrm>
          <a:prstGeom prst="rect">
            <a:avLst/>
          </a:prstGeom>
          <a:noFill/>
          <a:ln/>
        </p:spPr>
        <p:txBody>
          <a:bodyPr wrap="square" lIns="0" tIns="0" rIns="0" bIns="0" rtlCol="0" anchor="ctr"/>
          <a:lstStyle/>
          <a:p>
            <a:pPr indent="0" marL="0">
              <a:buNone/>
            </a:pPr>
            <a:r>
              <a:rPr lang="en-US" sz="1200" b="1" dirty="0">
                <a:solidFill>
                  <a:srgbClr val="0E5B69"/>
                </a:solidFill>
                <a:latin typeface="Courier New" pitchFamily="34" charset="0"/>
                <a:ea typeface="Courier New" pitchFamily="34" charset="-122"/>
                <a:cs typeface="Courier New" pitchFamily="34" charset="-120"/>
              </a:rPr>
              <a:t>Balanced</a:t>
            </a:r>
            <a:endParaRPr lang="en-US" sz="1200" dirty="0"/>
          </a:p>
        </p:txBody>
      </p:sp>
      <p:sp>
        <p:nvSpPr>
          <p:cNvPr id="17" name="Text 15"/>
          <p:cNvSpPr/>
          <p:nvPr/>
        </p:nvSpPr>
        <p:spPr>
          <a:xfrm>
            <a:off x="8001000" y="4498848"/>
            <a:ext cx="1691640" cy="402336"/>
          </a:xfrm>
          <a:prstGeom prst="rect">
            <a:avLst/>
          </a:prstGeom>
          <a:noFill/>
          <a:ln/>
        </p:spPr>
        <p:txBody>
          <a:bodyPr wrap="square" lIns="0" tIns="0" rIns="0" bIns="0" rtlCol="0" anchor="ctr"/>
          <a:lstStyle/>
          <a:p>
            <a:pPr indent="0" marL="0">
              <a:buNone/>
            </a:pPr>
            <a:r>
              <a:rPr lang="en-US" sz="1150" dirty="0">
                <a:solidFill>
                  <a:srgbClr val="C2610F"/>
                </a:solidFill>
                <a:latin typeface="Courier New" pitchFamily="34" charset="0"/>
                <a:ea typeface="Courier New" pitchFamily="34" charset="-122"/>
                <a:cs typeface="Courier New" pitchFamily="34" charset="-120"/>
              </a:rPr>
              <a:t>numeric 0.100</a:t>
            </a:r>
            <a:endParaRPr lang="en-US" sz="1150" dirty="0"/>
          </a:p>
        </p:txBody>
      </p:sp>
      <p:sp>
        <p:nvSpPr>
          <p:cNvPr id="18" name="Text 16"/>
          <p:cNvSpPr/>
          <p:nvPr/>
        </p:nvSpPr>
        <p:spPr>
          <a:xfrm>
            <a:off x="9738360" y="4498848"/>
            <a:ext cx="1737360" cy="402336"/>
          </a:xfrm>
          <a:prstGeom prst="rect">
            <a:avLst/>
          </a:prstGeom>
          <a:noFill/>
          <a:ln/>
        </p:spPr>
        <p:txBody>
          <a:bodyPr wrap="square" lIns="0" tIns="0" rIns="0" bIns="0" rtlCol="0" anchor="ctr"/>
          <a:lstStyle/>
          <a:p>
            <a:pPr indent="0" marL="0">
              <a:buNone/>
            </a:pPr>
            <a:r>
              <a:rPr lang="en-US" sz="1150" dirty="0">
                <a:solidFill>
                  <a:srgbClr val="C2610F"/>
                </a:solidFill>
                <a:latin typeface="Courier New" pitchFamily="34" charset="0"/>
                <a:ea typeface="Courier New" pitchFamily="34" charset="-122"/>
                <a:cs typeface="Courier New" pitchFamily="34" charset="-120"/>
              </a:rPr>
              <a:t>analysis 0.100</a:t>
            </a:r>
            <a:endParaRPr lang="en-US" sz="1150" dirty="0"/>
          </a:p>
        </p:txBody>
      </p:sp>
      <p:sp>
        <p:nvSpPr>
          <p:cNvPr id="19" name="Shape 17"/>
          <p:cNvSpPr/>
          <p:nvPr/>
        </p:nvSpPr>
        <p:spPr>
          <a:xfrm>
            <a:off x="6355080" y="4956048"/>
            <a:ext cx="5212080" cy="402336"/>
          </a:xfrm>
          <a:prstGeom prst="rect">
            <a:avLst/>
          </a:prstGeom>
          <a:solidFill>
            <a:srgbClr val="FFFFFF"/>
          </a:solidFill>
          <a:ln w="9525">
            <a:solidFill>
              <a:srgbClr val="D5DFE2"/>
            </a:solidFill>
            <a:prstDash val="solid"/>
          </a:ln>
        </p:spPr>
      </p:sp>
      <p:sp>
        <p:nvSpPr>
          <p:cNvPr id="20" name="Text 18"/>
          <p:cNvSpPr/>
          <p:nvPr/>
        </p:nvSpPr>
        <p:spPr>
          <a:xfrm>
            <a:off x="6510528" y="4956048"/>
            <a:ext cx="1463040" cy="402336"/>
          </a:xfrm>
          <a:prstGeom prst="rect">
            <a:avLst/>
          </a:prstGeom>
          <a:noFill/>
          <a:ln/>
        </p:spPr>
        <p:txBody>
          <a:bodyPr wrap="square" lIns="0" tIns="0" rIns="0" bIns="0" rtlCol="0" anchor="ctr"/>
          <a:lstStyle/>
          <a:p>
            <a:pPr indent="0" marL="0">
              <a:buNone/>
            </a:pPr>
            <a:r>
              <a:rPr lang="en-US" sz="1200" b="1" dirty="0">
                <a:solidFill>
                  <a:srgbClr val="0E5B69"/>
                </a:solidFill>
                <a:latin typeface="Courier New" pitchFamily="34" charset="0"/>
                <a:ea typeface="Courier New" pitchFamily="34" charset="-122"/>
                <a:cs typeface="Courier New" pitchFamily="34" charset="-120"/>
              </a:rPr>
              <a:t>Analysis</a:t>
            </a:r>
            <a:endParaRPr lang="en-US" sz="1200" dirty="0"/>
          </a:p>
        </p:txBody>
      </p:sp>
      <p:sp>
        <p:nvSpPr>
          <p:cNvPr id="21" name="Text 19"/>
          <p:cNvSpPr/>
          <p:nvPr/>
        </p:nvSpPr>
        <p:spPr>
          <a:xfrm>
            <a:off x="8001000" y="4956048"/>
            <a:ext cx="1691640" cy="402336"/>
          </a:xfrm>
          <a:prstGeom prst="rect">
            <a:avLst/>
          </a:prstGeom>
          <a:noFill/>
          <a:ln/>
        </p:spPr>
        <p:txBody>
          <a:bodyPr wrap="square" lIns="0" tIns="0" rIns="0" bIns="0" rtlCol="0" anchor="ctr"/>
          <a:lstStyle/>
          <a:p>
            <a:pPr indent="0" marL="0">
              <a:buNone/>
            </a:pPr>
            <a:r>
              <a:rPr lang="en-US" sz="1150" dirty="0">
                <a:solidFill>
                  <a:srgbClr val="C2610F"/>
                </a:solidFill>
                <a:latin typeface="Courier New" pitchFamily="34" charset="0"/>
                <a:ea typeface="Courier New" pitchFamily="34" charset="-122"/>
                <a:cs typeface="Courier New" pitchFamily="34" charset="-120"/>
              </a:rPr>
              <a:t>numeric 0.030</a:t>
            </a:r>
            <a:endParaRPr lang="en-US" sz="1150" dirty="0"/>
          </a:p>
        </p:txBody>
      </p:sp>
      <p:sp>
        <p:nvSpPr>
          <p:cNvPr id="22" name="Text 20"/>
          <p:cNvSpPr/>
          <p:nvPr/>
        </p:nvSpPr>
        <p:spPr>
          <a:xfrm>
            <a:off x="9738360" y="4956048"/>
            <a:ext cx="1737360" cy="402336"/>
          </a:xfrm>
          <a:prstGeom prst="rect">
            <a:avLst/>
          </a:prstGeom>
          <a:noFill/>
          <a:ln/>
        </p:spPr>
        <p:txBody>
          <a:bodyPr wrap="square" lIns="0" tIns="0" rIns="0" bIns="0" rtlCol="0" anchor="ctr"/>
          <a:lstStyle/>
          <a:p>
            <a:pPr indent="0" marL="0">
              <a:buNone/>
            </a:pPr>
            <a:r>
              <a:rPr lang="en-US" sz="1150" dirty="0">
                <a:solidFill>
                  <a:srgbClr val="C2610F"/>
                </a:solidFill>
                <a:latin typeface="Courier New" pitchFamily="34" charset="0"/>
                <a:ea typeface="Courier New" pitchFamily="34" charset="-122"/>
                <a:cs typeface="Courier New" pitchFamily="34" charset="-120"/>
              </a:rPr>
              <a:t>analysis 0.170</a:t>
            </a:r>
            <a:endParaRPr lang="en-US" sz="1150" dirty="0"/>
          </a:p>
        </p:txBody>
      </p:sp>
      <p:sp>
        <p:nvSpPr>
          <p:cNvPr id="23" name="Text 21"/>
          <p:cNvSpPr/>
          <p:nvPr/>
        </p:nvSpPr>
        <p:spPr>
          <a:xfrm>
            <a:off x="6355080" y="5486400"/>
            <a:ext cx="5212080" cy="548640"/>
          </a:xfrm>
          <a:prstGeom prst="rect">
            <a:avLst/>
          </a:prstGeom>
          <a:noFill/>
          <a:ln/>
        </p:spPr>
        <p:txBody>
          <a:bodyPr wrap="square" lIns="0" tIns="0" rIns="0" bIns="0" rtlCol="0" anchor="ctr"/>
          <a:lstStyle/>
          <a:p>
            <a:pPr indent="0" marL="0">
              <a:lnSpc>
                <a:spcPts val="1600"/>
              </a:lnSpc>
              <a:buNone/>
            </a:pPr>
            <a:r>
              <a:rPr lang="en-US" sz="1200" i="1" dirty="0">
                <a:solidFill>
                  <a:srgbClr val="24343B"/>
                </a:solidFill>
                <a:latin typeface="Calibri" pitchFamily="34" charset="0"/>
                <a:ea typeface="Calibri" pitchFamily="34" charset="-122"/>
                <a:cs typeface="Calibri" pitchFamily="34" charset="-120"/>
              </a:rPr>
              <a:t>The budget total never changes, so choosing a style never quietly alters how much subject matter, freshness or source reputation count.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USE OF AI</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Where the AI is, and where it deliberately isn’t</a:t>
            </a:r>
            <a:endParaRPr lang="en-US" sz="3400" dirty="0"/>
          </a:p>
        </p:txBody>
      </p:sp>
      <p:sp>
        <p:nvSpPr>
          <p:cNvPr id="4" name="Shape 2"/>
          <p:cNvSpPr/>
          <p:nvPr/>
        </p:nvSpPr>
        <p:spPr>
          <a:xfrm>
            <a:off x="548640" y="1737360"/>
            <a:ext cx="3520440" cy="2011680"/>
          </a:xfrm>
          <a:prstGeom prst="roundRect">
            <a:avLst>
              <a:gd name="adj" fmla="val 3636"/>
            </a:avLst>
          </a:prstGeom>
          <a:solidFill>
            <a:srgbClr val="F1F5F6"/>
          </a:solidFill>
          <a:ln w="12700">
            <a:solidFill>
              <a:srgbClr val="D5DFE2"/>
            </a:solidFill>
            <a:prstDash val="solid"/>
          </a:ln>
        </p:spPr>
      </p:sp>
      <p:sp>
        <p:nvSpPr>
          <p:cNvPr id="5" name="Text 3"/>
          <p:cNvSpPr/>
          <p:nvPr/>
        </p:nvSpPr>
        <p:spPr>
          <a:xfrm>
            <a:off x="822960" y="1920240"/>
            <a:ext cx="3017520" cy="256032"/>
          </a:xfrm>
          <a:prstGeom prst="rect">
            <a:avLst/>
          </a:prstGeom>
          <a:noFill/>
          <a:ln/>
        </p:spPr>
        <p:txBody>
          <a:bodyPr wrap="square" lIns="0" tIns="0" rIns="0" bIns="0" rtlCol="0" anchor="ctr"/>
          <a:lstStyle/>
          <a:p>
            <a:pPr indent="0" marL="0">
              <a:buNone/>
            </a:pPr>
            <a:r>
              <a:rPr lang="en-US" sz="1000" b="1" spc="150" kern="0" dirty="0">
                <a:solidFill>
                  <a:srgbClr val="0E5B69"/>
                </a:solidFill>
                <a:latin typeface="Courier New" pitchFamily="34" charset="0"/>
                <a:ea typeface="Courier New" pitchFamily="34" charset="-122"/>
                <a:cs typeface="Courier New" pitchFamily="34" charset="-120"/>
              </a:rPr>
              <a:t>MODELS</a:t>
            </a:r>
            <a:endParaRPr lang="en-US" sz="1000" dirty="0"/>
          </a:p>
        </p:txBody>
      </p:sp>
      <p:sp>
        <p:nvSpPr>
          <p:cNvPr id="6" name="Text 4"/>
          <p:cNvSpPr/>
          <p:nvPr/>
        </p:nvSpPr>
        <p:spPr>
          <a:xfrm>
            <a:off x="822960" y="2212848"/>
            <a:ext cx="3017520" cy="603504"/>
          </a:xfrm>
          <a:prstGeom prst="rect">
            <a:avLst/>
          </a:prstGeom>
          <a:noFill/>
          <a:ln/>
        </p:spPr>
        <p:txBody>
          <a:bodyPr wrap="square" lIns="0" tIns="0" rIns="0" bIns="0" rtlCol="0" anchor="ctr"/>
          <a:lstStyle/>
          <a:p>
            <a:pPr indent="0" marL="0">
              <a:lnSpc>
                <a:spcPts val="1900"/>
              </a:lnSpc>
              <a:buNone/>
            </a:pPr>
            <a:r>
              <a:rPr lang="en-US" sz="1550" b="1" dirty="0">
                <a:solidFill>
                  <a:srgbClr val="0E2A31"/>
                </a:solidFill>
                <a:latin typeface="Cambria" pitchFamily="34" charset="0"/>
                <a:ea typeface="Cambria" pitchFamily="34" charset="-122"/>
                <a:cs typeface="Cambria" pitchFamily="34" charset="-120"/>
              </a:rPr>
              <a:t>Moonshot Kimi K3</a:t>
            </a:r>
            <a:endParaRPr lang="en-US" sz="1550" dirty="0"/>
          </a:p>
          <a:p>
            <a:pPr indent="0" marL="0">
              <a:lnSpc>
                <a:spcPts val="1900"/>
              </a:lnSpc>
              <a:buNone/>
            </a:pPr>
            <a:r>
              <a:rPr lang="en-US" sz="1550" b="1" dirty="0">
                <a:solidFill>
                  <a:srgbClr val="0E2A31"/>
                </a:solidFill>
                <a:latin typeface="Cambria" pitchFamily="34" charset="0"/>
                <a:ea typeface="Cambria" pitchFamily="34" charset="-122"/>
                <a:cs typeface="Cambria" pitchFamily="34" charset="-120"/>
              </a:rPr>
              <a:t>→ xAI Grok 4.3</a:t>
            </a:r>
            <a:endParaRPr lang="en-US" sz="1550" dirty="0"/>
          </a:p>
        </p:txBody>
      </p:sp>
      <p:sp>
        <p:nvSpPr>
          <p:cNvPr id="7" name="Text 5"/>
          <p:cNvSpPr/>
          <p:nvPr/>
        </p:nvSpPr>
        <p:spPr>
          <a:xfrm>
            <a:off x="822960" y="2852928"/>
            <a:ext cx="3017520" cy="822960"/>
          </a:xfrm>
          <a:prstGeom prst="rect">
            <a:avLst/>
          </a:prstGeom>
          <a:noFill/>
          <a:ln/>
        </p:spPr>
        <p:txBody>
          <a:bodyPr wrap="square" lIns="0" tIns="0" rIns="0" bIns="0" rtlCol="0" anchor="ctr"/>
          <a:lstStyle/>
          <a:p>
            <a:pPr indent="0" marL="0">
              <a:lnSpc>
                <a:spcPts val="1500"/>
              </a:lnSpc>
              <a:buNone/>
            </a:pPr>
            <a:r>
              <a:rPr lang="en-US" sz="1150" dirty="0">
                <a:solidFill>
                  <a:srgbClr val="5E7078"/>
                </a:solidFill>
                <a:latin typeface="Calibri" pitchFamily="34" charset="0"/>
                <a:ea typeface="Calibri" pitchFamily="34" charset="-122"/>
                <a:cs typeface="Calibri" pitchFamily="34" charset="-120"/>
              </a:rPr>
              <a:t>Cross-vendor on purpose. Two models from one provider are a retry, not a fallback — an outage takes out both.</a:t>
            </a:r>
            <a:endParaRPr lang="en-US" sz="1150" dirty="0"/>
          </a:p>
        </p:txBody>
      </p:sp>
      <p:sp>
        <p:nvSpPr>
          <p:cNvPr id="8" name="Shape 6"/>
          <p:cNvSpPr/>
          <p:nvPr/>
        </p:nvSpPr>
        <p:spPr>
          <a:xfrm>
            <a:off x="4343400" y="1737360"/>
            <a:ext cx="3520440" cy="2011680"/>
          </a:xfrm>
          <a:prstGeom prst="roundRect">
            <a:avLst>
              <a:gd name="adj" fmla="val 3636"/>
            </a:avLst>
          </a:prstGeom>
          <a:solidFill>
            <a:srgbClr val="F1F5F6"/>
          </a:solidFill>
          <a:ln w="12700">
            <a:solidFill>
              <a:srgbClr val="D5DFE2"/>
            </a:solidFill>
            <a:prstDash val="solid"/>
          </a:ln>
        </p:spPr>
      </p:sp>
      <p:sp>
        <p:nvSpPr>
          <p:cNvPr id="9" name="Text 7"/>
          <p:cNvSpPr/>
          <p:nvPr/>
        </p:nvSpPr>
        <p:spPr>
          <a:xfrm>
            <a:off x="4617720" y="1920240"/>
            <a:ext cx="3017520" cy="256032"/>
          </a:xfrm>
          <a:prstGeom prst="rect">
            <a:avLst/>
          </a:prstGeom>
          <a:noFill/>
          <a:ln/>
        </p:spPr>
        <p:txBody>
          <a:bodyPr wrap="square" lIns="0" tIns="0" rIns="0" bIns="0" rtlCol="0" anchor="ctr"/>
          <a:lstStyle/>
          <a:p>
            <a:pPr indent="0" marL="0">
              <a:buNone/>
            </a:pPr>
            <a:r>
              <a:rPr lang="en-US" sz="1000" b="1" spc="150" kern="0" dirty="0">
                <a:solidFill>
                  <a:srgbClr val="C2610F"/>
                </a:solidFill>
                <a:latin typeface="Courier New" pitchFamily="34" charset="0"/>
                <a:ea typeface="Courier New" pitchFamily="34" charset="-122"/>
                <a:cs typeface="Courier New" pitchFamily="34" charset="-120"/>
              </a:rPr>
              <a:t>BUILT WITH</a:t>
            </a:r>
            <a:endParaRPr lang="en-US" sz="1000" dirty="0"/>
          </a:p>
        </p:txBody>
      </p:sp>
      <p:sp>
        <p:nvSpPr>
          <p:cNvPr id="10" name="Text 8"/>
          <p:cNvSpPr/>
          <p:nvPr/>
        </p:nvSpPr>
        <p:spPr>
          <a:xfrm>
            <a:off x="4617720" y="2212848"/>
            <a:ext cx="3017520" cy="603504"/>
          </a:xfrm>
          <a:prstGeom prst="rect">
            <a:avLst/>
          </a:prstGeom>
          <a:noFill/>
          <a:ln/>
        </p:spPr>
        <p:txBody>
          <a:bodyPr wrap="square" lIns="0" tIns="0" rIns="0" bIns="0" rtlCol="0" anchor="ctr"/>
          <a:lstStyle/>
          <a:p>
            <a:pPr indent="0" marL="0">
              <a:lnSpc>
                <a:spcPts val="1900"/>
              </a:lnSpc>
              <a:buNone/>
            </a:pPr>
            <a:r>
              <a:rPr lang="en-US" sz="1550" b="1" dirty="0">
                <a:solidFill>
                  <a:srgbClr val="0E2A31"/>
                </a:solidFill>
                <a:latin typeface="Cambria" pitchFamily="34" charset="0"/>
                <a:ea typeface="Cambria" pitchFamily="34" charset="-122"/>
                <a:cs typeface="Cambria" pitchFamily="34" charset="-120"/>
              </a:rPr>
              <a:t>Claude Code</a:t>
            </a:r>
            <a:endParaRPr lang="en-US" sz="1550" dirty="0"/>
          </a:p>
        </p:txBody>
      </p:sp>
      <p:sp>
        <p:nvSpPr>
          <p:cNvPr id="11" name="Text 9"/>
          <p:cNvSpPr/>
          <p:nvPr/>
        </p:nvSpPr>
        <p:spPr>
          <a:xfrm>
            <a:off x="4617720" y="2852928"/>
            <a:ext cx="3017520" cy="822960"/>
          </a:xfrm>
          <a:prstGeom prst="rect">
            <a:avLst/>
          </a:prstGeom>
          <a:noFill/>
          <a:ln/>
        </p:spPr>
        <p:txBody>
          <a:bodyPr wrap="square" lIns="0" tIns="0" rIns="0" bIns="0" rtlCol="0" anchor="ctr"/>
          <a:lstStyle/>
          <a:p>
            <a:pPr indent="0" marL="0">
              <a:lnSpc>
                <a:spcPts val="1500"/>
              </a:lnSpc>
              <a:buNone/>
            </a:pPr>
            <a:r>
              <a:rPr lang="en-US" sz="1150" dirty="0">
                <a:solidFill>
                  <a:srgbClr val="5E7078"/>
                </a:solidFill>
                <a:latin typeface="Calibri" pitchFamily="34" charset="0"/>
                <a:ea typeface="Calibri" pitchFamily="34" charset="-122"/>
                <a:cs typeface="Calibri" pitchFamily="34" charset="-120"/>
              </a:rPr>
              <a:t>Pair programmer throughout. The whole pipeline, the tests, and every bug fix in this deck.</a:t>
            </a:r>
            <a:endParaRPr lang="en-US" sz="1150" dirty="0"/>
          </a:p>
        </p:txBody>
      </p:sp>
      <p:sp>
        <p:nvSpPr>
          <p:cNvPr id="12" name="Shape 10"/>
          <p:cNvSpPr/>
          <p:nvPr/>
        </p:nvSpPr>
        <p:spPr>
          <a:xfrm>
            <a:off x="8138160" y="1737360"/>
            <a:ext cx="3520440" cy="2011680"/>
          </a:xfrm>
          <a:prstGeom prst="roundRect">
            <a:avLst>
              <a:gd name="adj" fmla="val 3636"/>
            </a:avLst>
          </a:prstGeom>
          <a:solidFill>
            <a:srgbClr val="F1F5F6"/>
          </a:solidFill>
          <a:ln w="12700">
            <a:solidFill>
              <a:srgbClr val="D5DFE2"/>
            </a:solidFill>
            <a:prstDash val="solid"/>
          </a:ln>
        </p:spPr>
      </p:sp>
      <p:sp>
        <p:nvSpPr>
          <p:cNvPr id="13" name="Text 11"/>
          <p:cNvSpPr/>
          <p:nvPr/>
        </p:nvSpPr>
        <p:spPr>
          <a:xfrm>
            <a:off x="8412480" y="1920240"/>
            <a:ext cx="3017520" cy="256032"/>
          </a:xfrm>
          <a:prstGeom prst="rect">
            <a:avLst/>
          </a:prstGeom>
          <a:noFill/>
          <a:ln/>
        </p:spPr>
        <p:txBody>
          <a:bodyPr wrap="square" lIns="0" tIns="0" rIns="0" bIns="0" rtlCol="0" anchor="ctr"/>
          <a:lstStyle/>
          <a:p>
            <a:pPr indent="0" marL="0">
              <a:buNone/>
            </a:pPr>
            <a:r>
              <a:rPr lang="en-US" sz="1000" b="1" spc="150" kern="0" dirty="0">
                <a:solidFill>
                  <a:srgbClr val="0E5B69"/>
                </a:solidFill>
                <a:latin typeface="Courier New" pitchFamily="34" charset="0"/>
                <a:ea typeface="Courier New" pitchFamily="34" charset="-122"/>
                <a:cs typeface="Courier New" pitchFamily="34" charset="-120"/>
              </a:rPr>
              <a:t>WHEN IT FAILS</a:t>
            </a:r>
            <a:endParaRPr lang="en-US" sz="1000" dirty="0"/>
          </a:p>
        </p:txBody>
      </p:sp>
      <p:sp>
        <p:nvSpPr>
          <p:cNvPr id="14" name="Text 12"/>
          <p:cNvSpPr/>
          <p:nvPr/>
        </p:nvSpPr>
        <p:spPr>
          <a:xfrm>
            <a:off x="8412480" y="2212848"/>
            <a:ext cx="3017520" cy="603504"/>
          </a:xfrm>
          <a:prstGeom prst="rect">
            <a:avLst/>
          </a:prstGeom>
          <a:noFill/>
          <a:ln/>
        </p:spPr>
        <p:txBody>
          <a:bodyPr wrap="square" lIns="0" tIns="0" rIns="0" bIns="0" rtlCol="0" anchor="ctr"/>
          <a:lstStyle/>
          <a:p>
            <a:pPr indent="0" marL="0">
              <a:lnSpc>
                <a:spcPts val="1900"/>
              </a:lnSpc>
              <a:buNone/>
            </a:pPr>
            <a:r>
              <a:rPr lang="en-US" sz="1550" b="1" dirty="0">
                <a:solidFill>
                  <a:srgbClr val="0E2A31"/>
                </a:solidFill>
                <a:latin typeface="Cambria" pitchFamily="34" charset="0"/>
                <a:ea typeface="Cambria" pitchFamily="34" charset="-122"/>
                <a:cs typeface="Cambria" pitchFamily="34" charset="-120"/>
              </a:rPr>
              <a:t>Template output</a:t>
            </a:r>
            <a:endParaRPr lang="en-US" sz="1550" dirty="0"/>
          </a:p>
        </p:txBody>
      </p:sp>
      <p:sp>
        <p:nvSpPr>
          <p:cNvPr id="15" name="Text 13"/>
          <p:cNvSpPr/>
          <p:nvPr/>
        </p:nvSpPr>
        <p:spPr>
          <a:xfrm>
            <a:off x="8412480" y="2852928"/>
            <a:ext cx="3017520" cy="822960"/>
          </a:xfrm>
          <a:prstGeom prst="rect">
            <a:avLst/>
          </a:prstGeom>
          <a:noFill/>
          <a:ln/>
        </p:spPr>
        <p:txBody>
          <a:bodyPr wrap="square" lIns="0" tIns="0" rIns="0" bIns="0" rtlCol="0" anchor="ctr"/>
          <a:lstStyle/>
          <a:p>
            <a:pPr indent="0" marL="0">
              <a:lnSpc>
                <a:spcPts val="1500"/>
              </a:lnSpc>
              <a:buNone/>
            </a:pPr>
            <a:r>
              <a:rPr lang="en-US" sz="1150" dirty="0">
                <a:solidFill>
                  <a:srgbClr val="5E7078"/>
                </a:solidFill>
                <a:latin typeface="Calibri" pitchFamily="34" charset="0"/>
                <a:ea typeface="Calibri" pitchFamily="34" charset="-122"/>
                <a:cs typeface="Calibri" pitchFamily="34" charset="-120"/>
              </a:rPr>
              <a:t>Every provider down → the top-ranked headlines verbatim. Degraded, honest, still correctly ordered.</a:t>
            </a:r>
            <a:endParaRPr lang="en-US" sz="1150" dirty="0"/>
          </a:p>
        </p:txBody>
      </p:sp>
      <p:sp>
        <p:nvSpPr>
          <p:cNvPr id="16" name="Shape 14"/>
          <p:cNvSpPr/>
          <p:nvPr/>
        </p:nvSpPr>
        <p:spPr>
          <a:xfrm>
            <a:off x="548640" y="3950208"/>
            <a:ext cx="11064240" cy="1828800"/>
          </a:xfrm>
          <a:prstGeom prst="roundRect">
            <a:avLst>
              <a:gd name="adj" fmla="val 4000"/>
            </a:avLst>
          </a:prstGeom>
          <a:solidFill>
            <a:srgbClr val="0E2A31"/>
          </a:solidFill>
          <a:ln w="12700">
            <a:solidFill>
              <a:srgbClr val="0E2A31"/>
            </a:solidFill>
            <a:prstDash val="solid"/>
          </a:ln>
        </p:spPr>
      </p:sp>
      <p:sp>
        <p:nvSpPr>
          <p:cNvPr id="17" name="Text 15"/>
          <p:cNvSpPr/>
          <p:nvPr/>
        </p:nvSpPr>
        <p:spPr>
          <a:xfrm>
            <a:off x="868680" y="4114800"/>
            <a:ext cx="7315200" cy="274320"/>
          </a:xfrm>
          <a:prstGeom prst="rect">
            <a:avLst/>
          </a:prstGeom>
          <a:noFill/>
          <a:ln/>
        </p:spPr>
        <p:txBody>
          <a:bodyPr wrap="square" lIns="0" tIns="0" rIns="0" bIns="0" rtlCol="0" anchor="ctr"/>
          <a:lstStyle/>
          <a:p>
            <a:pPr indent="0" marL="0">
              <a:buNone/>
            </a:pPr>
            <a:r>
              <a:rPr lang="en-US" sz="1000" b="1" spc="140" kern="0" dirty="0">
                <a:solidFill>
                  <a:srgbClr val="E8963C"/>
                </a:solidFill>
                <a:latin typeface="Courier New" pitchFamily="34" charset="0"/>
                <a:ea typeface="Courier New" pitchFamily="34" charset="-122"/>
                <a:cs typeface="Courier New" pitchFamily="34" charset="-120"/>
              </a:rPr>
              <a:t>SYSTEM PROMPT — the boundary, in its own words</a:t>
            </a:r>
            <a:endParaRPr lang="en-US" sz="1000" dirty="0"/>
          </a:p>
        </p:txBody>
      </p:sp>
      <p:sp>
        <p:nvSpPr>
          <p:cNvPr id="18" name="Text 16"/>
          <p:cNvSpPr/>
          <p:nvPr/>
        </p:nvSpPr>
        <p:spPr>
          <a:xfrm>
            <a:off x="868680" y="4425696"/>
            <a:ext cx="10424160" cy="1188720"/>
          </a:xfrm>
          <a:prstGeom prst="rect">
            <a:avLst/>
          </a:prstGeom>
          <a:noFill/>
          <a:ln/>
        </p:spPr>
        <p:txBody>
          <a:bodyPr wrap="square" lIns="0" tIns="0" rIns="0" bIns="0" rtlCol="0" anchor="ctr"/>
          <a:lstStyle/>
          <a:p>
            <a:pPr indent="0" marL="0">
              <a:lnSpc>
                <a:spcPts val="1600"/>
              </a:lnSpc>
              <a:buNone/>
            </a:pPr>
            <a:r>
              <a:rPr lang="en-US" sz="1150" dirty="0">
                <a:solidFill>
                  <a:srgbClr val="C6DADF"/>
                </a:solidFill>
                <a:latin typeface="Courier New" pitchFamily="34" charset="0"/>
                <a:ea typeface="Courier New" pitchFamily="34" charset="-122"/>
                <a:cs typeface="Courier New" pitchFamily="34" charset="-120"/>
              </a:rPr>
              <a:t>“You will be given a numbered list of stories that has ALREADY been</a:t>
            </a:r>
            <a:endParaRPr lang="en-US" sz="1150" dirty="0"/>
          </a:p>
          <a:p>
            <a:pPr indent="0" marL="0">
              <a:lnSpc>
                <a:spcPts val="1600"/>
              </a:lnSpc>
              <a:buNone/>
            </a:pPr>
            <a:r>
              <a:rPr lang="en-US" sz="1150" dirty="0">
                <a:solidFill>
                  <a:srgbClr val="C6DADF"/>
                </a:solidFill>
                <a:latin typeface="Courier New" pitchFamily="34" charset="0"/>
                <a:ea typeface="Courier New" pitchFamily="34" charset="-122"/>
                <a:cs typeface="Courier New" pitchFamily="34" charset="-120"/>
              </a:rPr>
              <a:t> selected and ranked by a scoring engine. Selection is not your job.</a:t>
            </a:r>
            <a:endParaRPr lang="en-US" sz="1150" dirty="0"/>
          </a:p>
          <a:p>
            <a:pPr indent="0" marL="0">
              <a:lnSpc>
                <a:spcPts val="1600"/>
              </a:lnSpc>
              <a:buNone/>
            </a:pPr>
            <a:r>
              <a:rPr lang="en-US" sz="1150" dirty="0">
                <a:solidFill>
                  <a:srgbClr val="C6DADF"/>
                </a:solidFill>
                <a:latin typeface="Courier New" pitchFamily="34" charset="0"/>
                <a:ea typeface="Courier New" pitchFamily="34" charset="-122"/>
                <a:cs typeface="Courier New" pitchFamily="34" charset="-120"/>
              </a:rPr>
              <a:t> Do not re-order them, do not add stories that are not in the list.”</a:t>
            </a:r>
            <a:endParaRPr lang="en-US" sz="1150" dirty="0"/>
          </a:p>
          <a:p>
            <a:pPr indent="0" marL="0">
              <a:lnSpc>
                <a:spcPts val="1600"/>
              </a:lnSpc>
              <a:buNone/>
            </a:pPr>
            <a:endParaRPr lang="en-US" sz="1150" dirty="0"/>
          </a:p>
          <a:p>
            <a:pPr indent="0" marL="0">
              <a:lnSpc>
                <a:spcPts val="1600"/>
              </a:lnSpc>
              <a:buNone/>
            </a:pPr>
            <a:r>
              <a:rPr lang="en-US" sz="1150" dirty="0">
                <a:solidFill>
                  <a:srgbClr val="C6DADF"/>
                </a:solidFill>
                <a:latin typeface="Courier New" pitchFamily="34" charset="0"/>
                <a:ea typeface="Courier New" pitchFamily="34" charset="-122"/>
                <a:cs typeface="Courier New" pitchFamily="34" charset="-120"/>
              </a:rPr>
              <a:t>“Never invent a number. Prices, percentages and dollar amounts may only</a:t>
            </a:r>
            <a:endParaRPr lang="en-US" sz="1150" dirty="0"/>
          </a:p>
          <a:p>
            <a:pPr indent="0" marL="0">
              <a:lnSpc>
                <a:spcPts val="1600"/>
              </a:lnSpc>
              <a:buNone/>
            </a:pPr>
            <a:r>
              <a:rPr lang="en-US" sz="1150" dirty="0">
                <a:solidFill>
                  <a:srgbClr val="C6DADF"/>
                </a:solidFill>
                <a:latin typeface="Courier New" pitchFamily="34" charset="0"/>
                <a:ea typeface="Courier New" pitchFamily="34" charset="-122"/>
                <a:cs typeface="Courier New" pitchFamily="34" charset="-120"/>
              </a:rPr>
              <a:t> appear if they appear in the input.”</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66928" y="384048"/>
            <a:ext cx="7315200" cy="237744"/>
          </a:xfrm>
          <a:prstGeom prst="rect">
            <a:avLst/>
          </a:prstGeom>
          <a:noFill/>
          <a:ln/>
        </p:spPr>
        <p:txBody>
          <a:bodyPr wrap="square" lIns="0" tIns="0" rIns="0" bIns="0" rtlCol="0" anchor="ctr"/>
          <a:lstStyle/>
          <a:p>
            <a:pPr indent="0" marL="0">
              <a:buNone/>
            </a:pPr>
            <a:r>
              <a:rPr lang="en-US" sz="1100" b="1" spc="200" kern="0" dirty="0">
                <a:solidFill>
                  <a:srgbClr val="0E5B69"/>
                </a:solidFill>
                <a:latin typeface="Courier New" pitchFamily="34" charset="0"/>
                <a:ea typeface="Courier New" pitchFamily="34" charset="-122"/>
                <a:cs typeface="Courier New" pitchFamily="34" charset="-120"/>
              </a:rPr>
              <a:t>ITERATION</a:t>
            </a:r>
            <a:endParaRPr lang="en-US" sz="1100" dirty="0"/>
          </a:p>
        </p:txBody>
      </p:sp>
      <p:sp>
        <p:nvSpPr>
          <p:cNvPr id="3" name="Text 1"/>
          <p:cNvSpPr/>
          <p:nvPr/>
        </p:nvSpPr>
        <p:spPr>
          <a:xfrm>
            <a:off x="548640" y="658368"/>
            <a:ext cx="10607040" cy="749808"/>
          </a:xfrm>
          <a:prstGeom prst="rect">
            <a:avLst/>
          </a:prstGeom>
          <a:noFill/>
          <a:ln/>
        </p:spPr>
        <p:txBody>
          <a:bodyPr wrap="square" lIns="0" tIns="0" rIns="0" bIns="0" rtlCol="0" anchor="t"/>
          <a:lstStyle/>
          <a:p>
            <a:pPr indent="0" marL="0">
              <a:buNone/>
            </a:pPr>
            <a:r>
              <a:rPr lang="en-US" sz="3400" b="1" dirty="0">
                <a:solidFill>
                  <a:srgbClr val="0E2A31"/>
                </a:solidFill>
                <a:latin typeface="Cambria" pitchFamily="34" charset="0"/>
                <a:ea typeface="Cambria" pitchFamily="34" charset="-122"/>
                <a:cs typeface="Cambria" pitchFamily="34" charset="-120"/>
              </a:rPr>
              <a:t>The factor table found every real bug</a:t>
            </a:r>
            <a:endParaRPr lang="en-US" sz="3400" dirty="0"/>
          </a:p>
        </p:txBody>
      </p:sp>
      <p:sp>
        <p:nvSpPr>
          <p:cNvPr id="4" name="Shape 2"/>
          <p:cNvSpPr/>
          <p:nvPr/>
        </p:nvSpPr>
        <p:spPr>
          <a:xfrm>
            <a:off x="548640" y="1737360"/>
            <a:ext cx="11064240" cy="1005840"/>
          </a:xfrm>
          <a:prstGeom prst="roundRect">
            <a:avLst>
              <a:gd name="adj" fmla="val 7273"/>
            </a:avLst>
          </a:prstGeom>
          <a:solidFill>
            <a:srgbClr val="FBEEDF"/>
          </a:solidFill>
          <a:ln w="12700">
            <a:solidFill>
              <a:srgbClr val="E8C39A"/>
            </a:solidFill>
            <a:prstDash val="solid"/>
          </a:ln>
        </p:spPr>
      </p:sp>
      <p:sp>
        <p:nvSpPr>
          <p:cNvPr id="5" name="Text 3"/>
          <p:cNvSpPr/>
          <p:nvPr/>
        </p:nvSpPr>
        <p:spPr>
          <a:xfrm>
            <a:off x="914400" y="1874520"/>
            <a:ext cx="10332720" cy="365760"/>
          </a:xfrm>
          <a:prstGeom prst="rect">
            <a:avLst/>
          </a:prstGeom>
          <a:noFill/>
          <a:ln/>
        </p:spPr>
        <p:txBody>
          <a:bodyPr wrap="square" lIns="0" tIns="0" rIns="0" bIns="0" rtlCol="0" anchor="ctr"/>
          <a:lstStyle/>
          <a:p>
            <a:pPr indent="0" marL="0">
              <a:buNone/>
            </a:pPr>
            <a:r>
              <a:rPr lang="en-US" sz="1500" b="1" dirty="0">
                <a:solidFill>
                  <a:srgbClr val="0E2A31"/>
                </a:solidFill>
                <a:latin typeface="Courier New" pitchFamily="34" charset="0"/>
                <a:ea typeface="Courier New" pitchFamily="34" charset="-122"/>
                <a:cs typeface="Courier New" pitchFamily="34" charset="-120"/>
              </a:rPr>
              <a:t>A  \b(exploit)\b  regex could not match the word “exploited”.</a:t>
            </a:r>
            <a:endParaRPr lang="en-US" sz="1500" dirty="0"/>
          </a:p>
        </p:txBody>
      </p:sp>
      <p:sp>
        <p:nvSpPr>
          <p:cNvPr id="6" name="Text 4"/>
          <p:cNvSpPr/>
          <p:nvPr/>
        </p:nvSpPr>
        <p:spPr>
          <a:xfrm>
            <a:off x="914400" y="2267712"/>
            <a:ext cx="10332720" cy="329184"/>
          </a:xfrm>
          <a:prstGeom prst="rect">
            <a:avLst/>
          </a:prstGeom>
          <a:noFill/>
          <a:ln/>
        </p:spPr>
        <p:txBody>
          <a:bodyPr wrap="square" lIns="0" tIns="0" rIns="0" bIns="0" rtlCol="0" anchor="ctr"/>
          <a:lstStyle/>
          <a:p>
            <a:pPr indent="0" marL="0">
              <a:buNone/>
            </a:pPr>
            <a:r>
              <a:rPr lang="en-US" sz="1350" dirty="0">
                <a:solidFill>
                  <a:srgbClr val="24343B"/>
                </a:solidFill>
                <a:latin typeface="Calibri" pitchFamily="34" charset="0"/>
                <a:ea typeface="Calibri" pitchFamily="34" charset="-122"/>
                <a:cs typeface="Calibri" pitchFamily="34" charset="-120"/>
              </a:rPr>
              <a:t>So a $62 million protocol hack — the biggest story in the set — scored as untiered noise.</a:t>
            </a:r>
            <a:endParaRPr lang="en-US" sz="1350" dirty="0"/>
          </a:p>
        </p:txBody>
      </p:sp>
      <p:sp>
        <p:nvSpPr>
          <p:cNvPr id="7" name="Shape 5"/>
          <p:cNvSpPr/>
          <p:nvPr/>
        </p:nvSpPr>
        <p:spPr>
          <a:xfrm>
            <a:off x="548640" y="2926080"/>
            <a:ext cx="2606040" cy="1600200"/>
          </a:xfrm>
          <a:prstGeom prst="roundRect">
            <a:avLst>
              <a:gd name="adj" fmla="val 4571"/>
            </a:avLst>
          </a:prstGeom>
          <a:solidFill>
            <a:srgbClr val="F1F5F6"/>
          </a:solidFill>
          <a:ln w="12700">
            <a:solidFill>
              <a:srgbClr val="D5DFE2"/>
            </a:solidFill>
            <a:prstDash val="solid"/>
          </a:ln>
        </p:spPr>
      </p:sp>
      <p:sp>
        <p:nvSpPr>
          <p:cNvPr id="8" name="Text 6"/>
          <p:cNvSpPr/>
          <p:nvPr/>
        </p:nvSpPr>
        <p:spPr>
          <a:xfrm>
            <a:off x="777240" y="3090672"/>
            <a:ext cx="2103120" cy="256032"/>
          </a:xfrm>
          <a:prstGeom prst="rect">
            <a:avLst/>
          </a:prstGeom>
          <a:noFill/>
          <a:ln/>
        </p:spPr>
        <p:txBody>
          <a:bodyPr wrap="square" lIns="0" tIns="0" rIns="0" bIns="0" rtlCol="0" anchor="ctr"/>
          <a:lstStyle/>
          <a:p>
            <a:pPr indent="0" marL="0">
              <a:buNone/>
            </a:pPr>
            <a:r>
              <a:rPr lang="en-US" sz="1000" b="1" spc="150" kern="0" dirty="0">
                <a:solidFill>
                  <a:srgbClr val="5E7078"/>
                </a:solidFill>
                <a:latin typeface="Courier New" pitchFamily="34" charset="0"/>
                <a:ea typeface="Courier New" pitchFamily="34" charset="-122"/>
                <a:cs typeface="Courier New" pitchFamily="34" charset="-120"/>
              </a:rPr>
              <a:t>BEFORE</a:t>
            </a:r>
            <a:endParaRPr lang="en-US" sz="1000" dirty="0"/>
          </a:p>
        </p:txBody>
      </p:sp>
      <p:sp>
        <p:nvSpPr>
          <p:cNvPr id="9" name="Text 7"/>
          <p:cNvSpPr/>
          <p:nvPr/>
        </p:nvSpPr>
        <p:spPr>
          <a:xfrm>
            <a:off x="777240" y="3383280"/>
            <a:ext cx="2103120" cy="713232"/>
          </a:xfrm>
          <a:prstGeom prst="rect">
            <a:avLst/>
          </a:prstGeom>
          <a:noFill/>
          <a:ln/>
        </p:spPr>
        <p:txBody>
          <a:bodyPr wrap="square" lIns="0" tIns="0" rIns="0" bIns="0" rtlCol="0" anchor="ctr"/>
          <a:lstStyle/>
          <a:p>
            <a:pPr indent="0" marL="0">
              <a:buNone/>
            </a:pPr>
            <a:r>
              <a:rPr lang="en-US" sz="3800" b="1" dirty="0">
                <a:solidFill>
                  <a:srgbClr val="5E7078"/>
                </a:solidFill>
                <a:latin typeface="Courier New" pitchFamily="34" charset="0"/>
                <a:ea typeface="Courier New" pitchFamily="34" charset="-122"/>
                <a:cs typeface="Courier New" pitchFamily="34" charset="-120"/>
              </a:rPr>
              <a:t>#7</a:t>
            </a:r>
            <a:endParaRPr lang="en-US" sz="3800" dirty="0"/>
          </a:p>
        </p:txBody>
      </p:sp>
      <p:sp>
        <p:nvSpPr>
          <p:cNvPr id="10" name="Text 8"/>
          <p:cNvSpPr/>
          <p:nvPr/>
        </p:nvSpPr>
        <p:spPr>
          <a:xfrm>
            <a:off x="777240" y="4114800"/>
            <a:ext cx="2103120" cy="292608"/>
          </a:xfrm>
          <a:prstGeom prst="rect">
            <a:avLst/>
          </a:prstGeom>
          <a:noFill/>
          <a:ln/>
        </p:spPr>
        <p:txBody>
          <a:bodyPr wrap="square" lIns="0" tIns="0" rIns="0" bIns="0" rtlCol="0" anchor="ctr"/>
          <a:lstStyle/>
          <a:p>
            <a:pPr indent="0" marL="0">
              <a:buNone/>
            </a:pPr>
            <a:r>
              <a:rPr lang="en-US" sz="1300" dirty="0">
                <a:solidFill>
                  <a:srgbClr val="0E2A31"/>
                </a:solidFill>
                <a:latin typeface="Courier New" pitchFamily="34" charset="0"/>
                <a:ea typeface="Courier New" pitchFamily="34" charset="-122"/>
                <a:cs typeface="Courier New" pitchFamily="34" charset="-120"/>
              </a:rPr>
              <a:t>score 0.701</a:t>
            </a:r>
            <a:endParaRPr lang="en-US" sz="1300" dirty="0"/>
          </a:p>
        </p:txBody>
      </p:sp>
      <p:sp>
        <p:nvSpPr>
          <p:cNvPr id="11" name="Shape 9"/>
          <p:cNvSpPr/>
          <p:nvPr/>
        </p:nvSpPr>
        <p:spPr>
          <a:xfrm>
            <a:off x="3383280" y="2926080"/>
            <a:ext cx="2606040" cy="1600200"/>
          </a:xfrm>
          <a:prstGeom prst="roundRect">
            <a:avLst>
              <a:gd name="adj" fmla="val 4571"/>
            </a:avLst>
          </a:prstGeom>
          <a:solidFill>
            <a:srgbClr val="0E2A31"/>
          </a:solidFill>
          <a:ln w="12700">
            <a:solidFill>
              <a:srgbClr val="0E2A31"/>
            </a:solidFill>
            <a:prstDash val="solid"/>
          </a:ln>
        </p:spPr>
      </p:sp>
      <p:sp>
        <p:nvSpPr>
          <p:cNvPr id="12" name="Text 10"/>
          <p:cNvSpPr/>
          <p:nvPr/>
        </p:nvSpPr>
        <p:spPr>
          <a:xfrm>
            <a:off x="3611880" y="3090672"/>
            <a:ext cx="2103120" cy="256032"/>
          </a:xfrm>
          <a:prstGeom prst="rect">
            <a:avLst/>
          </a:prstGeom>
          <a:noFill/>
          <a:ln/>
        </p:spPr>
        <p:txBody>
          <a:bodyPr wrap="square" lIns="0" tIns="0" rIns="0" bIns="0" rtlCol="0" anchor="ctr"/>
          <a:lstStyle/>
          <a:p>
            <a:pPr indent="0" marL="0">
              <a:buNone/>
            </a:pPr>
            <a:r>
              <a:rPr lang="en-US" sz="1000" b="1" spc="150" kern="0" dirty="0">
                <a:solidFill>
                  <a:srgbClr val="E8963C"/>
                </a:solidFill>
                <a:latin typeface="Courier New" pitchFamily="34" charset="0"/>
                <a:ea typeface="Courier New" pitchFamily="34" charset="-122"/>
                <a:cs typeface="Courier New" pitchFamily="34" charset="-120"/>
              </a:rPr>
              <a:t>AFTER</a:t>
            </a:r>
            <a:endParaRPr lang="en-US" sz="1000" dirty="0"/>
          </a:p>
        </p:txBody>
      </p:sp>
      <p:sp>
        <p:nvSpPr>
          <p:cNvPr id="13" name="Text 11"/>
          <p:cNvSpPr/>
          <p:nvPr/>
        </p:nvSpPr>
        <p:spPr>
          <a:xfrm>
            <a:off x="3611880" y="3383280"/>
            <a:ext cx="2103120" cy="713232"/>
          </a:xfrm>
          <a:prstGeom prst="rect">
            <a:avLst/>
          </a:prstGeom>
          <a:noFill/>
          <a:ln/>
        </p:spPr>
        <p:txBody>
          <a:bodyPr wrap="square" lIns="0" tIns="0" rIns="0" bIns="0" rtlCol="0" anchor="ctr"/>
          <a:lstStyle/>
          <a:p>
            <a:pPr indent="0" marL="0">
              <a:buNone/>
            </a:pPr>
            <a:r>
              <a:rPr lang="en-US" sz="3800" b="1" dirty="0">
                <a:solidFill>
                  <a:srgbClr val="E8963C"/>
                </a:solidFill>
                <a:latin typeface="Courier New" pitchFamily="34" charset="0"/>
                <a:ea typeface="Courier New" pitchFamily="34" charset="-122"/>
                <a:cs typeface="Courier New" pitchFamily="34" charset="-120"/>
              </a:rPr>
              <a:t>#1</a:t>
            </a:r>
            <a:endParaRPr lang="en-US" sz="3800" dirty="0"/>
          </a:p>
        </p:txBody>
      </p:sp>
      <p:sp>
        <p:nvSpPr>
          <p:cNvPr id="14" name="Text 12"/>
          <p:cNvSpPr/>
          <p:nvPr/>
        </p:nvSpPr>
        <p:spPr>
          <a:xfrm>
            <a:off x="3611880" y="4114800"/>
            <a:ext cx="2103120" cy="292608"/>
          </a:xfrm>
          <a:prstGeom prst="rect">
            <a:avLst/>
          </a:prstGeom>
          <a:noFill/>
          <a:ln/>
        </p:spPr>
        <p:txBody>
          <a:bodyPr wrap="square" lIns="0" tIns="0" rIns="0" bIns="0" rtlCol="0" anchor="ctr"/>
          <a:lstStyle/>
          <a:p>
            <a:pPr indent="0" marL="0">
              <a:buNone/>
            </a:pPr>
            <a:r>
              <a:rPr lang="en-US" sz="1300" dirty="0">
                <a:solidFill>
                  <a:srgbClr val="FFFFFF"/>
                </a:solidFill>
                <a:latin typeface="Courier New" pitchFamily="34" charset="0"/>
                <a:ea typeface="Courier New" pitchFamily="34" charset="-122"/>
                <a:cs typeface="Courier New" pitchFamily="34" charset="-120"/>
              </a:rPr>
              <a:t>score 0.867</a:t>
            </a:r>
            <a:endParaRPr lang="en-US" sz="1300" dirty="0"/>
          </a:p>
        </p:txBody>
      </p:sp>
      <p:sp>
        <p:nvSpPr>
          <p:cNvPr id="15" name="Shape 13"/>
          <p:cNvSpPr/>
          <p:nvPr/>
        </p:nvSpPr>
        <p:spPr>
          <a:xfrm>
            <a:off x="6400800" y="2926080"/>
            <a:ext cx="5212080" cy="2377440"/>
          </a:xfrm>
          <a:prstGeom prst="roundRect">
            <a:avLst>
              <a:gd name="adj" fmla="val 2308"/>
            </a:avLst>
          </a:prstGeom>
          <a:solidFill>
            <a:srgbClr val="F1F5F6"/>
          </a:solidFill>
          <a:ln w="22225">
            <a:solidFill>
              <a:srgbClr val="B9C6CA"/>
            </a:solidFill>
            <a:prstDash val="dash"/>
          </a:ln>
        </p:spPr>
      </p:sp>
      <p:sp>
        <p:nvSpPr>
          <p:cNvPr id="16" name="Text 14"/>
          <p:cNvSpPr/>
          <p:nvPr/>
        </p:nvSpPr>
        <p:spPr>
          <a:xfrm>
            <a:off x="6675120" y="3639312"/>
            <a:ext cx="4663440" cy="384048"/>
          </a:xfrm>
          <a:prstGeom prst="rect">
            <a:avLst/>
          </a:prstGeom>
          <a:noFill/>
          <a:ln/>
        </p:spPr>
        <p:txBody>
          <a:bodyPr wrap="square" lIns="0" tIns="0" rIns="0" bIns="0" rtlCol="0" anchor="ctr"/>
          <a:lstStyle/>
          <a:p>
            <a:pPr algn="ctr" indent="0" marL="0">
              <a:buNone/>
            </a:pPr>
            <a:r>
              <a:rPr lang="en-US" sz="1700" b="1" dirty="0">
                <a:solidFill>
                  <a:srgbClr val="0E5B69"/>
                </a:solidFill>
                <a:latin typeface="Calibri" pitchFamily="34" charset="0"/>
                <a:ea typeface="Calibri" pitchFamily="34" charset="-122"/>
                <a:cs typeface="Calibri" pitchFamily="34" charset="-120"/>
              </a:rPr>
              <a:t>📷  Terminal — the ranking flip</a:t>
            </a:r>
            <a:endParaRPr lang="en-US" sz="1700" dirty="0"/>
          </a:p>
        </p:txBody>
      </p:sp>
      <p:sp>
        <p:nvSpPr>
          <p:cNvPr id="17" name="Text 15"/>
          <p:cNvSpPr/>
          <p:nvPr/>
        </p:nvSpPr>
        <p:spPr>
          <a:xfrm>
            <a:off x="6720840" y="4059936"/>
            <a:ext cx="4572000" cy="658368"/>
          </a:xfrm>
          <a:prstGeom prst="rect">
            <a:avLst/>
          </a:prstGeom>
          <a:noFill/>
          <a:ln/>
        </p:spPr>
        <p:txBody>
          <a:bodyPr wrap="square" lIns="0" tIns="0" rIns="0" bIns="0" rtlCol="0" anchor="ctr"/>
          <a:lstStyle/>
          <a:p>
            <a:pPr algn="ctr" indent="0" marL="0">
              <a:buNone/>
            </a:pPr>
            <a:r>
              <a:rPr lang="en-US" sz="1150" dirty="0">
                <a:solidFill>
                  <a:srgbClr val="5E7078"/>
                </a:solidFill>
                <a:latin typeface="Courier New" pitchFamily="34" charset="0"/>
                <a:ea typeface="Courier New" pitchFamily="34" charset="-122"/>
                <a:cs typeface="Courier New" pitchFamily="34" charset="-120"/>
              </a:rPr>
              <a:t>Screenshot --once output before and</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after the fix, or the /why table showing</a:t>
            </a:r>
            <a:endParaRPr lang="en-US" sz="1150" dirty="0"/>
          </a:p>
          <a:p>
            <a:pPr algn="ctr" indent="0" marL="0">
              <a:buNone/>
            </a:pPr>
            <a:r>
              <a:rPr lang="en-US" sz="1150" dirty="0">
                <a:solidFill>
                  <a:srgbClr val="5E7078"/>
                </a:solidFill>
                <a:latin typeface="Courier New" pitchFamily="34" charset="0"/>
                <a:ea typeface="Courier New" pitchFamily="34" charset="-122"/>
                <a:cs typeface="Courier New" pitchFamily="34" charset="-120"/>
              </a:rPr>
              <a:t>keyword = 1.00 on the exploit story.</a:t>
            </a:r>
            <a:endParaRPr lang="en-US" sz="1150" dirty="0"/>
          </a:p>
        </p:txBody>
      </p:sp>
      <p:sp>
        <p:nvSpPr>
          <p:cNvPr id="18" name="Text 16"/>
          <p:cNvSpPr/>
          <p:nvPr/>
        </p:nvSpPr>
        <p:spPr>
          <a:xfrm>
            <a:off x="548640" y="4800600"/>
            <a:ext cx="5577840" cy="822960"/>
          </a:xfrm>
          <a:prstGeom prst="rect">
            <a:avLst/>
          </a:prstGeom>
          <a:noFill/>
          <a:ln/>
        </p:spPr>
        <p:txBody>
          <a:bodyPr wrap="square" lIns="0" tIns="0" rIns="0" bIns="0" rtlCol="0" anchor="ctr"/>
          <a:lstStyle/>
          <a:p>
            <a:pPr indent="0" marL="0">
              <a:lnSpc>
                <a:spcPts val="1800"/>
              </a:lnSpc>
              <a:buNone/>
            </a:pPr>
            <a:r>
              <a:rPr lang="en-US" sz="1300" i="1" dirty="0">
                <a:solidFill>
                  <a:srgbClr val="24343B"/>
                </a:solidFill>
                <a:latin typeface="Calibri" pitchFamily="34" charset="0"/>
                <a:ea typeface="Calibri" pitchFamily="34" charset="-122"/>
                <a:cs typeface="Calibri" pitchFamily="34" charset="-120"/>
              </a:rPr>
              <a:t>Invisible in aggregate. Obvious the moment the intermediate state was on screen — which is the argument for the whole design.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E2A31"/>
        </a:solidFill>
      </p:bgPr>
    </p:bg>
    <p:spTree>
      <p:nvGrpSpPr>
        <p:cNvPr id="1" name=""/>
        <p:cNvGrpSpPr/>
        <p:nvPr/>
      </p:nvGrpSpPr>
      <p:grpSpPr>
        <a:xfrm>
          <a:off x="0" y="0"/>
          <a:ext cx="0" cy="0"/>
          <a:chOff x="0" y="0"/>
          <a:chExt cx="0" cy="0"/>
        </a:xfrm>
      </p:grpSpPr>
      <p:sp>
        <p:nvSpPr>
          <p:cNvPr id="2" name="Text 0"/>
          <p:cNvSpPr/>
          <p:nvPr/>
        </p:nvSpPr>
        <p:spPr>
          <a:xfrm>
            <a:off x="822960" y="777240"/>
            <a:ext cx="100584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What worked, and what I’d do next</a:t>
            </a:r>
            <a:endParaRPr lang="en-US" sz="3200" dirty="0"/>
          </a:p>
        </p:txBody>
      </p:sp>
      <p:sp>
        <p:nvSpPr>
          <p:cNvPr id="3" name="Shape 1"/>
          <p:cNvSpPr/>
          <p:nvPr/>
        </p:nvSpPr>
        <p:spPr>
          <a:xfrm>
            <a:off x="822960" y="1691640"/>
            <a:ext cx="5029200" cy="2286000"/>
          </a:xfrm>
          <a:prstGeom prst="roundRect">
            <a:avLst>
              <a:gd name="adj" fmla="val 3200"/>
            </a:avLst>
          </a:prstGeom>
          <a:solidFill>
            <a:srgbClr val="163A43"/>
          </a:solidFill>
          <a:ln w="12700">
            <a:solidFill>
              <a:srgbClr val="27505A"/>
            </a:solidFill>
            <a:prstDash val="solid"/>
          </a:ln>
        </p:spPr>
      </p:sp>
      <p:sp>
        <p:nvSpPr>
          <p:cNvPr id="4" name="Text 2"/>
          <p:cNvSpPr/>
          <p:nvPr/>
        </p:nvSpPr>
        <p:spPr>
          <a:xfrm>
            <a:off x="1143000" y="1901952"/>
            <a:ext cx="4206240" cy="256032"/>
          </a:xfrm>
          <a:prstGeom prst="rect">
            <a:avLst/>
          </a:prstGeom>
          <a:noFill/>
          <a:ln/>
        </p:spPr>
        <p:txBody>
          <a:bodyPr wrap="square" lIns="0" tIns="0" rIns="0" bIns="0" rtlCol="0" anchor="ctr"/>
          <a:lstStyle/>
          <a:p>
            <a:pPr indent="0" marL="0">
              <a:buNone/>
            </a:pPr>
            <a:r>
              <a:rPr lang="en-US" sz="1050" b="1" spc="160" kern="0" dirty="0">
                <a:solidFill>
                  <a:srgbClr val="E8963C"/>
                </a:solidFill>
                <a:latin typeface="Courier New" pitchFamily="34" charset="0"/>
                <a:ea typeface="Courier New" pitchFamily="34" charset="-122"/>
                <a:cs typeface="Courier New" pitchFamily="34" charset="-120"/>
              </a:rPr>
              <a:t>WORKED</a:t>
            </a:r>
            <a:endParaRPr lang="en-US" sz="1050" dirty="0"/>
          </a:p>
        </p:txBody>
      </p:sp>
      <p:sp>
        <p:nvSpPr>
          <p:cNvPr id="5" name="Text 3"/>
          <p:cNvSpPr/>
          <p:nvPr/>
        </p:nvSpPr>
        <p:spPr>
          <a:xfrm>
            <a:off x="1143000" y="2212848"/>
            <a:ext cx="4389120" cy="548640"/>
          </a:xfrm>
          <a:prstGeom prst="rect">
            <a:avLst/>
          </a:prstGeom>
          <a:noFill/>
          <a:ln/>
        </p:spPr>
        <p:txBody>
          <a:bodyPr wrap="square" lIns="0" tIns="0" rIns="0" bIns="0" rtlCol="0" anchor="ctr"/>
          <a:lstStyle/>
          <a:p>
            <a:pPr indent="0" marL="0">
              <a:lnSpc>
                <a:spcPts val="2200"/>
              </a:lnSpc>
              <a:buNone/>
            </a:pPr>
            <a:r>
              <a:rPr lang="en-US" sz="1800" b="1" dirty="0">
                <a:solidFill>
                  <a:srgbClr val="FFFFFF"/>
                </a:solidFill>
                <a:latin typeface="Cambria" pitchFamily="34" charset="0"/>
                <a:ea typeface="Cambria" pitchFamily="34" charset="-122"/>
                <a:cs typeface="Cambria" pitchFamily="34" charset="-120"/>
              </a:rPr>
              <a:t>Making the score explain itself</a:t>
            </a:r>
            <a:endParaRPr lang="en-US" sz="1800" dirty="0"/>
          </a:p>
        </p:txBody>
      </p:sp>
      <p:sp>
        <p:nvSpPr>
          <p:cNvPr id="6" name="Text 4"/>
          <p:cNvSpPr/>
          <p:nvPr/>
        </p:nvSpPr>
        <p:spPr>
          <a:xfrm>
            <a:off x="1143000" y="2880360"/>
            <a:ext cx="4389120" cy="914400"/>
          </a:xfrm>
          <a:prstGeom prst="rect">
            <a:avLst/>
          </a:prstGeom>
          <a:noFill/>
          <a:ln/>
        </p:spPr>
        <p:txBody>
          <a:bodyPr wrap="square" lIns="0" tIns="0" rIns="0" bIns="0" rtlCol="0" anchor="ctr"/>
          <a:lstStyle/>
          <a:p>
            <a:pPr indent="0" marL="0">
              <a:lnSpc>
                <a:spcPts val="1800"/>
              </a:lnSpc>
              <a:buNone/>
            </a:pPr>
            <a:r>
              <a:rPr lang="en-US" sz="1300" dirty="0">
                <a:solidFill>
                  <a:srgbClr val="A8C0C6"/>
                </a:solidFill>
                <a:latin typeface="Calibri" pitchFamily="34" charset="0"/>
                <a:ea typeface="Calibri" pitchFamily="34" charset="-122"/>
                <a:cs typeface="Calibri" pitchFamily="34" charset="-120"/>
              </a:rPr>
              <a:t>It changed how I built the thing. Printing the factor table beside a ranking is how every real bug surfaced — not one came from a test.</a:t>
            </a:r>
            <a:endParaRPr lang="en-US" sz="1300" dirty="0"/>
          </a:p>
        </p:txBody>
      </p:sp>
      <p:sp>
        <p:nvSpPr>
          <p:cNvPr id="7" name="Shape 5"/>
          <p:cNvSpPr/>
          <p:nvPr/>
        </p:nvSpPr>
        <p:spPr>
          <a:xfrm>
            <a:off x="6309360" y="1691640"/>
            <a:ext cx="5029200" cy="2286000"/>
          </a:xfrm>
          <a:prstGeom prst="roundRect">
            <a:avLst>
              <a:gd name="adj" fmla="val 3200"/>
            </a:avLst>
          </a:prstGeom>
          <a:solidFill>
            <a:srgbClr val="163A43"/>
          </a:solidFill>
          <a:ln w="12700">
            <a:solidFill>
              <a:srgbClr val="27505A"/>
            </a:solidFill>
            <a:prstDash val="solid"/>
          </a:ln>
        </p:spPr>
      </p:sp>
      <p:sp>
        <p:nvSpPr>
          <p:cNvPr id="8" name="Text 6"/>
          <p:cNvSpPr/>
          <p:nvPr/>
        </p:nvSpPr>
        <p:spPr>
          <a:xfrm>
            <a:off x="6629400" y="1901952"/>
            <a:ext cx="4206240" cy="256032"/>
          </a:xfrm>
          <a:prstGeom prst="rect">
            <a:avLst/>
          </a:prstGeom>
          <a:noFill/>
          <a:ln/>
        </p:spPr>
        <p:txBody>
          <a:bodyPr wrap="square" lIns="0" tIns="0" rIns="0" bIns="0" rtlCol="0" anchor="ctr"/>
          <a:lstStyle/>
          <a:p>
            <a:pPr indent="0" marL="0">
              <a:buNone/>
            </a:pPr>
            <a:r>
              <a:rPr lang="en-US" sz="1050" b="1" spc="160" kern="0" dirty="0">
                <a:solidFill>
                  <a:srgbClr val="E8963C"/>
                </a:solidFill>
                <a:latin typeface="Courier New" pitchFamily="34" charset="0"/>
                <a:ea typeface="Courier New" pitchFamily="34" charset="-122"/>
                <a:cs typeface="Courier New" pitchFamily="34" charset="-120"/>
              </a:rPr>
              <a:t>NEXT</a:t>
            </a:r>
            <a:endParaRPr lang="en-US" sz="1050" dirty="0"/>
          </a:p>
        </p:txBody>
      </p:sp>
      <p:sp>
        <p:nvSpPr>
          <p:cNvPr id="9" name="Text 7"/>
          <p:cNvSpPr/>
          <p:nvPr/>
        </p:nvSpPr>
        <p:spPr>
          <a:xfrm>
            <a:off x="6629400" y="2212848"/>
            <a:ext cx="4389120" cy="676656"/>
          </a:xfrm>
          <a:prstGeom prst="rect">
            <a:avLst/>
          </a:prstGeom>
          <a:noFill/>
          <a:ln/>
        </p:spPr>
        <p:txBody>
          <a:bodyPr wrap="square" lIns="0" tIns="0" rIns="0" bIns="0" rtlCol="0" anchor="ctr"/>
          <a:lstStyle/>
          <a:p>
            <a:pPr indent="0" marL="0">
              <a:lnSpc>
                <a:spcPts val="2200"/>
              </a:lnSpc>
              <a:buNone/>
            </a:pPr>
            <a:r>
              <a:rPr lang="en-US" sz="1800" b="1" dirty="0">
                <a:solidFill>
                  <a:srgbClr val="FFFFFF"/>
                </a:solidFill>
                <a:latin typeface="Cambria" pitchFamily="34" charset="0"/>
                <a:ea typeface="Cambria" pitchFamily="34" charset="-122"/>
                <a:cs typeface="Cambria" pitchFamily="34" charset="-120"/>
              </a:rPr>
              <a:t>Fit the weights instead of reasoning them</a:t>
            </a:r>
            <a:endParaRPr lang="en-US" sz="1800" dirty="0"/>
          </a:p>
        </p:txBody>
      </p:sp>
      <p:sp>
        <p:nvSpPr>
          <p:cNvPr id="10" name="Text 8"/>
          <p:cNvSpPr/>
          <p:nvPr/>
        </p:nvSpPr>
        <p:spPr>
          <a:xfrm>
            <a:off x="6629400" y="2980944"/>
            <a:ext cx="4389120" cy="914400"/>
          </a:xfrm>
          <a:prstGeom prst="rect">
            <a:avLst/>
          </a:prstGeom>
          <a:noFill/>
          <a:ln/>
        </p:spPr>
        <p:txBody>
          <a:bodyPr wrap="square" lIns="0" tIns="0" rIns="0" bIns="0" rtlCol="0" anchor="ctr"/>
          <a:lstStyle/>
          <a:p>
            <a:pPr indent="0" marL="0">
              <a:lnSpc>
                <a:spcPts val="1800"/>
              </a:lnSpc>
              <a:buNone/>
            </a:pPr>
            <a:r>
              <a:rPr lang="en-US" sz="1300" dirty="0">
                <a:solidFill>
                  <a:srgbClr val="A8C0C6"/>
                </a:solidFill>
                <a:latin typeface="Calibri" pitchFamily="34" charset="0"/>
                <a:ea typeface="Calibri" pitchFamily="34" charset="-122"/>
                <a:cs typeface="Calibri" pitchFamily="34" charset="-120"/>
              </a:rPr>
              <a:t>Every weight is defensible; none is measured. Logging each ranking against which stories readers actually open would turn eight arguments into eight numbers.</a:t>
            </a:r>
            <a:endParaRPr lang="en-US" sz="1300" dirty="0"/>
          </a:p>
        </p:txBody>
      </p:sp>
      <p:sp>
        <p:nvSpPr>
          <p:cNvPr id="11" name="Text 9"/>
          <p:cNvSpPr/>
          <p:nvPr/>
        </p:nvSpPr>
        <p:spPr>
          <a:xfrm>
            <a:off x="822960" y="4297680"/>
            <a:ext cx="10515600" cy="822960"/>
          </a:xfrm>
          <a:prstGeom prst="rect">
            <a:avLst/>
          </a:prstGeom>
          <a:noFill/>
          <a:ln/>
        </p:spPr>
        <p:txBody>
          <a:bodyPr wrap="square" lIns="0" tIns="0" rIns="0" bIns="0" rtlCol="0" anchor="ctr"/>
          <a:lstStyle/>
          <a:p>
            <a:pPr indent="0" marL="0">
              <a:lnSpc>
                <a:spcPts val="2000"/>
              </a:lnSpc>
              <a:buNone/>
            </a:pPr>
            <a:r>
              <a:rPr lang="en-US" sz="1400" dirty="0">
                <a:solidFill>
                  <a:srgbClr val="8AA3AB"/>
                </a:solidFill>
                <a:latin typeface="Calibri" pitchFamily="34" charset="0"/>
                <a:ea typeface="Calibri" pitchFamily="34" charset="-122"/>
                <a:cs typeface="Calibri" pitchFamily="34" charset="-120"/>
              </a:rPr>
              <a:t>The classifier will keep having gaps — it is regex over open-ended language, and I have fixed five rounds of them. That is not a thing that finishes; it is a thing you keep feeding real output.</a:t>
            </a:r>
            <a:endParaRPr lang="en-US" sz="1400" dirty="0"/>
          </a:p>
        </p:txBody>
      </p:sp>
      <p:sp>
        <p:nvSpPr>
          <p:cNvPr id="12" name="Text 10"/>
          <p:cNvSpPr/>
          <p:nvPr/>
        </p:nvSpPr>
        <p:spPr>
          <a:xfrm>
            <a:off x="822960" y="5623560"/>
            <a:ext cx="6400800" cy="329184"/>
          </a:xfrm>
          <a:prstGeom prst="rect">
            <a:avLst/>
          </a:prstGeom>
          <a:noFill/>
          <a:ln/>
        </p:spPr>
        <p:txBody>
          <a:bodyPr wrap="square" lIns="0" tIns="0" rIns="0" bIns="0" rtlCol="0" anchor="ctr"/>
          <a:lstStyle/>
          <a:p>
            <a:pPr indent="0" marL="0">
              <a:buNone/>
            </a:pPr>
            <a:r>
              <a:rPr lang="en-US" sz="1300" b="1" dirty="0">
                <a:solidFill>
                  <a:srgbClr val="E8963C"/>
                </a:solidFill>
                <a:latin typeface="Courier New" pitchFamily="34" charset="0"/>
                <a:ea typeface="Courier New" pitchFamily="34" charset="-122"/>
                <a:cs typeface="Courier New" pitchFamily="34" charset="-120"/>
              </a:rPr>
              <a:t>github.com/okyterrance/signaldesk</a:t>
            </a:r>
            <a:endParaRPr lang="en-US" sz="1300" dirty="0"/>
          </a:p>
        </p:txBody>
      </p:sp>
      <p:sp>
        <p:nvSpPr>
          <p:cNvPr id="13" name="Text 11"/>
          <p:cNvSpPr/>
          <p:nvPr/>
        </p:nvSpPr>
        <p:spPr>
          <a:xfrm>
            <a:off x="822960" y="5989320"/>
            <a:ext cx="7315200" cy="292608"/>
          </a:xfrm>
          <a:prstGeom prst="rect">
            <a:avLst/>
          </a:prstGeom>
          <a:noFill/>
          <a:ln/>
        </p:spPr>
        <p:txBody>
          <a:bodyPr wrap="square" lIns="0" tIns="0" rIns="0" bIns="0" rtlCol="0" anchor="ctr"/>
          <a:lstStyle/>
          <a:p>
            <a:pPr indent="0" marL="0">
              <a:buNone/>
            </a:pPr>
            <a:r>
              <a:rPr lang="en-US" sz="1200" dirty="0">
                <a:solidFill>
                  <a:srgbClr val="6E8A93"/>
                </a:solidFill>
                <a:latin typeface="Calibri" pitchFamily="34" charset="0"/>
                <a:ea typeface="Calibri" pitchFamily="34" charset="-122"/>
                <a:cs typeface="Calibri" pitchFamily="34" charset="-120"/>
              </a:rPr>
              <a:t>3,289 lines · 147 offline tests · zero-key data layer</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2026-08-22T11:21:20Z</dcterms:created>
  <dcterms:modified xsi:type="dcterms:W3CDTF">2026-08-22T11:21:20Z</dcterms:modified>
</cp:coreProperties>
</file>